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d7d014644d4976" /><Relationship Type="http://schemas.openxmlformats.org/officeDocument/2006/relationships/extended-properties" Target="/docProps/app.xml" Id="Rbe3deed0146b4cfa" /><Relationship Type="http://schemas.openxmlformats.org/officeDocument/2006/relationships/officeDocument" Target="/ppt/presentation.xml" Id="R0fdeba0625264a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c1c8a6ea04e3d"/>
  </p:sldMasterIdLst>
  <p:notesMasterIdLst>
    <p:notesMasterId xmlns:r="http://schemas.openxmlformats.org/officeDocument/2006/relationships" r:id="R4067bc05cf71443f"/>
  </p:notesMasterIdLst>
  <p:sldIdLst>
    <p:sldId xmlns:r="http://schemas.openxmlformats.org/officeDocument/2006/relationships" id="256" r:id="Rb4bc204a16fa438c"/>
    <p:sldId xmlns:r="http://schemas.openxmlformats.org/officeDocument/2006/relationships" id="257" r:id="Rfb29ea989bc34e45"/>
    <p:sldId xmlns:r="http://schemas.openxmlformats.org/officeDocument/2006/relationships" id="258" r:id="R9981bb09e8bd4a22"/>
    <p:sldId xmlns:r="http://schemas.openxmlformats.org/officeDocument/2006/relationships" id="259" r:id="R8d22bbcce4af46ff"/>
    <p:sldId xmlns:r="http://schemas.openxmlformats.org/officeDocument/2006/relationships" id="260" r:id="Rbfe075e077c94a12"/>
    <p:sldId xmlns:r="http://schemas.openxmlformats.org/officeDocument/2006/relationships" id="261" r:id="Rdd5d725bb9b5454b"/>
    <p:sldId xmlns:r="http://schemas.openxmlformats.org/officeDocument/2006/relationships" id="262" r:id="R359f2a5e97f74a58"/>
    <p:sldId xmlns:r="http://schemas.openxmlformats.org/officeDocument/2006/relationships" id="263" r:id="R33617f0b894040c8"/>
    <p:sldId xmlns:r="http://schemas.openxmlformats.org/officeDocument/2006/relationships" id="264" r:id="R97b2bd51545d47b5"/>
    <p:sldId xmlns:r="http://schemas.openxmlformats.org/officeDocument/2006/relationships" id="265" r:id="R242fb95f8f9c43b1"/>
    <p:sldId xmlns:r="http://schemas.openxmlformats.org/officeDocument/2006/relationships" id="266" r:id="Rb892350116664bd8"/>
    <p:sldId xmlns:r="http://schemas.openxmlformats.org/officeDocument/2006/relationships" id="267" r:id="Rd48b2dd57c5c4810"/>
    <p:sldId xmlns:r="http://schemas.openxmlformats.org/officeDocument/2006/relationships" id="268" r:id="R261ff4d4c7664b33"/>
    <p:sldId xmlns:r="http://schemas.openxmlformats.org/officeDocument/2006/relationships" id="269" r:id="R300b465d76414367"/>
    <p:sldId xmlns:r="http://schemas.openxmlformats.org/officeDocument/2006/relationships" id="270" r:id="R57b74ea28b9341e3"/>
    <p:sldId xmlns:r="http://schemas.openxmlformats.org/officeDocument/2006/relationships" id="271" r:id="Rca54d31d27614f66"/>
    <p:sldId xmlns:r="http://schemas.openxmlformats.org/officeDocument/2006/relationships" id="272" r:id="R3e665df3c7034044"/>
    <p:sldId xmlns:r="http://schemas.openxmlformats.org/officeDocument/2006/relationships" id="273" r:id="R41f5195595e24d5a"/>
    <p:sldId xmlns:r="http://schemas.openxmlformats.org/officeDocument/2006/relationships" id="274" r:id="R52fb8839b68d4bcf"/>
    <p:sldId xmlns:r="http://schemas.openxmlformats.org/officeDocument/2006/relationships" id="275" r:id="Rf2b99203afe84b0a"/>
    <p:sldId xmlns:r="http://schemas.openxmlformats.org/officeDocument/2006/relationships" id="276" r:id="R57c7cafca7584429"/>
    <p:sldId xmlns:r="http://schemas.openxmlformats.org/officeDocument/2006/relationships" id="277" r:id="R2451fd4d9ee2481c"/>
    <p:sldId xmlns:r="http://schemas.openxmlformats.org/officeDocument/2006/relationships" id="278" r:id="R5f8068d14191404f"/>
    <p:sldId xmlns:r="http://schemas.openxmlformats.org/officeDocument/2006/relationships" id="279" r:id="R403883c7c7994b16"/>
    <p:sldId xmlns:r="http://schemas.openxmlformats.org/officeDocument/2006/relationships" id="280" r:id="Rbfb0b64a8b5c4324"/>
    <p:sldId xmlns:r="http://schemas.openxmlformats.org/officeDocument/2006/relationships" id="281" r:id="R3c7d540bb8bf4de8"/>
    <p:sldId xmlns:r="http://schemas.openxmlformats.org/officeDocument/2006/relationships" id="282" r:id="Rb84e0cd19f2c468d"/>
    <p:sldId xmlns:r="http://schemas.openxmlformats.org/officeDocument/2006/relationships" id="283" r:id="R7f2452863e53402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662b1aa915483b" /><Relationship Type="http://schemas.openxmlformats.org/officeDocument/2006/relationships/slideMaster" Target="/ppt/slideMasters/slideMaster1.xml" Id="R4d2c1c8a6ea04e3d" /><Relationship Type="http://schemas.openxmlformats.org/officeDocument/2006/relationships/notesMaster" Target="/ppt/notesMasters/notesMaster1.xml" Id="R4067bc05cf71443f" /><Relationship Type="http://schemas.openxmlformats.org/officeDocument/2006/relationships/presProps" Target="/ppt/presProps.xml" Id="Rfb469986bc9c41ef" /><Relationship Type="http://schemas.openxmlformats.org/officeDocument/2006/relationships/tableStyles" Target="/ppt/tableStyles.xml" Id="R2750d0ac044c4e16" /><Relationship Type="http://schemas.openxmlformats.org/officeDocument/2006/relationships/slide" Target="/ppt/slides/slide1.xml" Id="Rb4bc204a16fa438c" /><Relationship Type="http://schemas.openxmlformats.org/officeDocument/2006/relationships/slide" Target="/ppt/slides/slide2.xml" Id="Rfb29ea989bc34e45" /><Relationship Type="http://schemas.openxmlformats.org/officeDocument/2006/relationships/slide" Target="/ppt/slides/slide3.xml" Id="R9981bb09e8bd4a22" /><Relationship Type="http://schemas.openxmlformats.org/officeDocument/2006/relationships/slide" Target="/ppt/slides/slide4.xml" Id="R8d22bbcce4af46ff" /><Relationship Type="http://schemas.openxmlformats.org/officeDocument/2006/relationships/slide" Target="/ppt/slides/slide5.xml" Id="Rbfe075e077c94a12" /><Relationship Type="http://schemas.openxmlformats.org/officeDocument/2006/relationships/slide" Target="/ppt/slides/slide6.xml" Id="Rdd5d725bb9b5454b" /><Relationship Type="http://schemas.openxmlformats.org/officeDocument/2006/relationships/slide" Target="/ppt/slides/slide7.xml" Id="R359f2a5e97f74a58" /><Relationship Type="http://schemas.openxmlformats.org/officeDocument/2006/relationships/slide" Target="/ppt/slides/slide8.xml" Id="R33617f0b894040c8" /><Relationship Type="http://schemas.openxmlformats.org/officeDocument/2006/relationships/slide" Target="/ppt/slides/slide9.xml" Id="R97b2bd51545d47b5" /><Relationship Type="http://schemas.openxmlformats.org/officeDocument/2006/relationships/slide" Target="/ppt/slides/slide10.xml" Id="R242fb95f8f9c43b1" /><Relationship Type="http://schemas.openxmlformats.org/officeDocument/2006/relationships/slide" Target="/ppt/slides/slide11.xml" Id="Rb892350116664bd8" /><Relationship Type="http://schemas.openxmlformats.org/officeDocument/2006/relationships/slide" Target="/ppt/slides/slide12.xml" Id="Rd48b2dd57c5c4810" /><Relationship Type="http://schemas.openxmlformats.org/officeDocument/2006/relationships/slide" Target="/ppt/slides/slide13.xml" Id="R261ff4d4c7664b33" /><Relationship Type="http://schemas.openxmlformats.org/officeDocument/2006/relationships/slide" Target="/ppt/slides/slide14.xml" Id="R300b465d76414367" /><Relationship Type="http://schemas.openxmlformats.org/officeDocument/2006/relationships/slide" Target="/ppt/slides/slide15.xml" Id="R57b74ea28b9341e3" /><Relationship Type="http://schemas.openxmlformats.org/officeDocument/2006/relationships/slide" Target="/ppt/slides/slide16.xml" Id="Rca54d31d27614f66" /><Relationship Type="http://schemas.openxmlformats.org/officeDocument/2006/relationships/slide" Target="/ppt/slides/slide17.xml" Id="R3e665df3c7034044" /><Relationship Type="http://schemas.openxmlformats.org/officeDocument/2006/relationships/slide" Target="/ppt/slides/slide18.xml" Id="R41f5195595e24d5a" /><Relationship Type="http://schemas.openxmlformats.org/officeDocument/2006/relationships/slide" Target="/ppt/slides/slide19.xml" Id="R52fb8839b68d4bcf" /><Relationship Type="http://schemas.openxmlformats.org/officeDocument/2006/relationships/slide" Target="/ppt/slides/slide20.xml" Id="Rf2b99203afe84b0a" /><Relationship Type="http://schemas.openxmlformats.org/officeDocument/2006/relationships/slide" Target="/ppt/slides/slide21.xml" Id="R57c7cafca7584429" /><Relationship Type="http://schemas.openxmlformats.org/officeDocument/2006/relationships/slide" Target="/ppt/slides/slide22.xml" Id="R2451fd4d9ee2481c" /><Relationship Type="http://schemas.openxmlformats.org/officeDocument/2006/relationships/slide" Target="/ppt/slides/slide23.xml" Id="R5f8068d14191404f" /><Relationship Type="http://schemas.openxmlformats.org/officeDocument/2006/relationships/slide" Target="/ppt/slides/slide24.xml" Id="R403883c7c7994b16" /><Relationship Type="http://schemas.openxmlformats.org/officeDocument/2006/relationships/slide" Target="/ppt/slides/slide25.xml" Id="Rbfb0b64a8b5c4324" /><Relationship Type="http://schemas.openxmlformats.org/officeDocument/2006/relationships/slide" Target="/ppt/slides/slide26.xml" Id="R3c7d540bb8bf4de8" /><Relationship Type="http://schemas.openxmlformats.org/officeDocument/2006/relationships/slide" Target="/ppt/slides/slide27.xml" Id="Rb84e0cd19f2c468d" /><Relationship Type="http://schemas.openxmlformats.org/officeDocument/2006/relationships/slide" Target="/ppt/slides/slide28.xml" Id="R7f2452863e5340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772212828a44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624c7f0b1e46bd" /><Relationship Type="http://schemas.openxmlformats.org/officeDocument/2006/relationships/notesMaster" Target="/ppt/notesMasters/notesMaster1.xml" Id="R75886465c10b44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bff95bfe304555" /><Relationship Type="http://schemas.openxmlformats.org/officeDocument/2006/relationships/notesMaster" Target="/ppt/notesMasters/notesMaster1.xml" Id="Rf7ecb5b84e0844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eee92fcfec4b79" /><Relationship Type="http://schemas.openxmlformats.org/officeDocument/2006/relationships/notesMaster" Target="/ppt/notesMasters/notesMaster1.xml" Id="R3b6bccb507c24d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7d3bfb60864225" /><Relationship Type="http://schemas.openxmlformats.org/officeDocument/2006/relationships/notesMaster" Target="/ppt/notesMasters/notesMaster1.xml" Id="R4395f3a7b47941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e5edc08e7d4528" /><Relationship Type="http://schemas.openxmlformats.org/officeDocument/2006/relationships/notesMaster" Target="/ppt/notesMasters/notesMaster1.xml" Id="R52544ad66a7547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6f5f6c366f41b6" /><Relationship Type="http://schemas.openxmlformats.org/officeDocument/2006/relationships/notesMaster" Target="/ppt/notesMasters/notesMaster1.xml" Id="Re23301507fdd41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921fa98b394068" /><Relationship Type="http://schemas.openxmlformats.org/officeDocument/2006/relationships/notesMaster" Target="/ppt/notesMasters/notesMaster1.xml" Id="Rd6e604dd35064f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a2e517ea2e4c10" /><Relationship Type="http://schemas.openxmlformats.org/officeDocument/2006/relationships/notesMaster" Target="/ppt/notesMasters/notesMaster1.xml" Id="R7489a5059a8f47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8b16c2790c450c" /><Relationship Type="http://schemas.openxmlformats.org/officeDocument/2006/relationships/notesMaster" Target="/ppt/notesMasters/notesMaster1.xml" Id="R86f36a51b9224a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2b0a8b515d4aad" /><Relationship Type="http://schemas.openxmlformats.org/officeDocument/2006/relationships/notesMaster" Target="/ppt/notesMasters/notesMaster1.xml" Id="R14f37acb48194a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234b95d41c43a9" /><Relationship Type="http://schemas.openxmlformats.org/officeDocument/2006/relationships/notesMaster" Target="/ppt/notesMasters/notesMaster1.xml" Id="R710be64f3c734f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dae82e4c16483f" /><Relationship Type="http://schemas.openxmlformats.org/officeDocument/2006/relationships/notesMaster" Target="/ppt/notesMasters/notesMaster1.xml" Id="R75ebdc10386a47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61c2b351fe442d" /><Relationship Type="http://schemas.openxmlformats.org/officeDocument/2006/relationships/notesMaster" Target="/ppt/notesMasters/notesMaster1.xml" Id="R47288b7c426a46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68a2669df440e6" /><Relationship Type="http://schemas.openxmlformats.org/officeDocument/2006/relationships/notesMaster" Target="/ppt/notesMasters/notesMaster1.xml" Id="Rcae13212c0b544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d1da6105e54b19" /><Relationship Type="http://schemas.openxmlformats.org/officeDocument/2006/relationships/notesMaster" Target="/ppt/notesMasters/notesMaster1.xml" Id="R08c7b5bf013748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1031dea9a84d45" /><Relationship Type="http://schemas.openxmlformats.org/officeDocument/2006/relationships/notesMaster" Target="/ppt/notesMasters/notesMaster1.xml" Id="R443bad783ce249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c5ebf513284183" /><Relationship Type="http://schemas.openxmlformats.org/officeDocument/2006/relationships/notesMaster" Target="/ppt/notesMasters/notesMaster1.xml" Id="R1f001c469ceb43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ee97e6e90c452b" /><Relationship Type="http://schemas.openxmlformats.org/officeDocument/2006/relationships/notesMaster" Target="/ppt/notesMasters/notesMaster1.xml" Id="Re387b78f7e6b49a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07bcfeec434884" /><Relationship Type="http://schemas.openxmlformats.org/officeDocument/2006/relationships/notesMaster" Target="/ppt/notesMasters/notesMaster1.xml" Id="R89fa7fdee6a74a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5cc0b8298142dd" /><Relationship Type="http://schemas.openxmlformats.org/officeDocument/2006/relationships/notesMaster" Target="/ppt/notesMasters/notesMaster1.xml" Id="R87e10e8677674e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bb0653c73994cc5" /><Relationship Type="http://schemas.openxmlformats.org/officeDocument/2006/relationships/notesMaster" Target="/ppt/notesMasters/notesMaster1.xml" Id="R3c0664da750b4b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e8840fa52b4f44" /><Relationship Type="http://schemas.openxmlformats.org/officeDocument/2006/relationships/notesMaster" Target="/ppt/notesMasters/notesMaster1.xml" Id="R8c963081ddb943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db3fa0ff4744b5" /><Relationship Type="http://schemas.openxmlformats.org/officeDocument/2006/relationships/notesMaster" Target="/ppt/notesMasters/notesMaster1.xml" Id="R512fe9dd300e480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f2f8c96c074552" /><Relationship Type="http://schemas.openxmlformats.org/officeDocument/2006/relationships/notesMaster" Target="/ppt/notesMasters/notesMaster1.xml" Id="R13e959801b2b4fb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1d0751c0d4044c0" /><Relationship Type="http://schemas.openxmlformats.org/officeDocument/2006/relationships/notesMaster" Target="/ppt/notesMasters/notesMaster1.xml" Id="R557f61edf3bd411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1532b5680804872" /><Relationship Type="http://schemas.openxmlformats.org/officeDocument/2006/relationships/notesMaster" Target="/ppt/notesMasters/notesMaster1.xml" Id="R6d20af970098439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af0ee871bd4f08" /><Relationship Type="http://schemas.openxmlformats.org/officeDocument/2006/relationships/notesMaster" Target="/ppt/notesMasters/notesMaster1.xml" Id="Ref1a3bcfe6094b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82fa2f58b4a4508" /><Relationship Type="http://schemas.openxmlformats.org/officeDocument/2006/relationships/notesMaster" Target="/ppt/notesMasters/notesMaster1.xml" Id="R161440ab7a394a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funcional conforme direção do usuário em 15/10/2026. Prints reais do protótipo local, sem composição de telas. Os textos explicam a jornada e o funcionamento esperado. Não contém balanço de implementação.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MAP-01.</a:t>
            </a:r>
          </a:p>
          <a:p xmlns:a="http://schemas.openxmlformats.org/drawingml/2006/main">
            <a:r>
              <a:t>Diagrama nativo de funcionamento esperado. Não é captura nem representação de uma interface.</a:t>
            </a:r>
          </a:p>
          <a:p xmlns:a="http://schemas.openxmlformats.org/drawingml/2006/main">
            <a:r>
              <a:t>Fonte: Visão, Prioridades e Especificações, pp. 4, 10–14</a:t>
            </a:r>
          </a:p>
          <a:p xmlns:a="http://schemas.openxmlformats.org/drawingml/2006/main">
            <a:r>
              <a:t>Fonte: PRD Portal Interno Apice, pp. 6–13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A01.</a:t>
            </a:r>
          </a:p>
          <a:p xmlns:a="http://schemas.openxmlformats.org/drawingml/2006/main">
            <a:r>
              <a:t>Captura real: screenshots/A01-login.jpg. Dados fictícios. Capturada em 15/10/2026 no protótipo local.</a:t>
            </a:r>
          </a:p>
          <a:p xmlns:a="http://schemas.openxmlformats.org/drawingml/2006/main">
            <a:r>
              <a:t>Fonte: apps/web/src/modules/auth/LoginPage.tsx:151</a:t>
            </a:r>
          </a:p>
          <a:p xmlns:a="http://schemas.openxmlformats.org/drawingml/2006/main">
            <a:r>
              <a:t>Fonte: apps/web/src/modules/auth/EmailCodePage.tsx:107</a:t>
            </a:r>
          </a:p>
          <a:p xmlns:a="http://schemas.openxmlformats.org/drawingml/2006/main">
            <a:r>
              <a:t>Fonte: apps/api/src/security/session.service.ts:62</a:t>
            </a:r>
          </a:p>
          <a:p xmlns:a="http://schemas.openxmlformats.org/drawingml/2006/main">
            <a:r>
              <a:t>Fonte: Decisão do usuário: segundo fator por e-mail para todos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A02.</a:t>
            </a:r>
          </a:p>
          <a:p xmlns:a="http://schemas.openxmlformats.org/drawingml/2006/main">
            <a:r>
              <a:t>Captura real: screenshots/A02-recuperar.jpg. Dados fictícios. Capturada em 15/10/2026 no protótipo local.</a:t>
            </a:r>
          </a:p>
          <a:p xmlns:a="http://schemas.openxmlformats.org/drawingml/2006/main">
            <a:r>
              <a:t>Fonte: apps/web/src/modules/auth/LoginPage.tsx:68</a:t>
            </a:r>
          </a:p>
          <a:p xmlns:a="http://schemas.openxmlformats.org/drawingml/2006/main">
            <a:r>
              <a:t>Fonte: apps/api/src/security/recovery.service.ts:149</a:t>
            </a:r>
          </a:p>
          <a:p xmlns:a="http://schemas.openxmlformats.org/drawingml/2006/main">
            <a:r>
              <a:t>Fonte: apps/web/src/modules/users/UsersPage.tsx:205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U02.</a:t>
            </a:r>
          </a:p>
          <a:p xmlns:a="http://schemas.openxmlformats.org/drawingml/2006/main">
            <a:r>
              <a:t>Captura real: screenshots/U02-novo-usuario.jpg. Dados fictícios. Capturada em 15/10/2026 no protótipo local.</a:t>
            </a:r>
          </a:p>
          <a:p xmlns:a="http://schemas.openxmlformats.org/drawingml/2006/main">
            <a:r>
              <a:t>Fonte: apps/web/src/modules/users/UsersPage.tsx:140</a:t>
            </a:r>
          </a:p>
          <a:p xmlns:a="http://schemas.openxmlformats.org/drawingml/2006/main">
            <a:r>
              <a:t>Fonte: apps/api/src/security/identity.schemas.ts:55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U03.</a:t>
            </a:r>
          </a:p>
          <a:p xmlns:a="http://schemas.openxmlformats.org/drawingml/2006/main">
            <a:r>
              <a:t>Captura real: screenshots/U03-permissoes.jpg. Dados fictícios. Capturada em 15/10/2026 no protótipo local.</a:t>
            </a:r>
          </a:p>
          <a:p xmlns:a="http://schemas.openxmlformats.org/drawingml/2006/main">
            <a:r>
              <a:t>Fonte: apps/web/src/modules/users/UsersPage.tsx:246</a:t>
            </a:r>
          </a:p>
          <a:p xmlns:a="http://schemas.openxmlformats.org/drawingml/2006/main">
            <a:r>
              <a:t>Fonte: packages/domain/src/access.ts:33</a:t>
            </a:r>
          </a:p>
          <a:p xmlns:a="http://schemas.openxmlformats.org/drawingml/2006/main">
            <a:r>
              <a:t>Fonte: apps/api/src/security/identity.schemas.ts:77</a:t>
            </a:r>
          </a:p>
          <a:p xmlns:a="http://schemas.openxmlformats.org/drawingml/2006/main">
            <a:r>
              <a:t>Fonte: AGENTS.md: permissões por pessoa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V01.</a:t>
            </a:r>
          </a:p>
          <a:p xmlns:a="http://schemas.openxmlformats.org/drawingml/2006/main">
            <a:r>
              <a:t>Captura real: screenshots/V01-visao-geral.jpg. Dados fictícios. Capturada em 15/10/2026 no protótipo local.</a:t>
            </a:r>
          </a:p>
          <a:p xmlns:a="http://schemas.openxmlformats.org/drawingml/2006/main">
            <a:r>
              <a:t>Fonte: apps/web/src/modules/overview/OverviewPage.tsx</a:t>
            </a:r>
          </a:p>
          <a:p xmlns:a="http://schemas.openxmlformats.org/drawingml/2006/main">
            <a:r>
              <a:t>Fonte: apps/web/src/app/App.tsx:43</a:t>
            </a:r>
          </a:p>
          <a:p xmlns:a="http://schemas.openxmlformats.org/drawingml/2006/main">
            <a:r>
              <a:t>Fonte: packages/domain/src/selectors.ts:26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E01.</a:t>
            </a:r>
          </a:p>
          <a:p xmlns:a="http://schemas.openxmlformats.org/drawingml/2006/main">
            <a:r>
              <a:t>Captura real: screenshots/E01-empresas.jpg. Dados fictícios. Capturada em 15/10/2026 no protótipo local.</a:t>
            </a:r>
          </a:p>
          <a:p xmlns:a="http://schemas.openxmlformats.org/drawingml/2006/main">
            <a:r>
              <a:t>Fonte: apps/web/src/modules/companies/CompaniesPage.tsx</a:t>
            </a:r>
          </a:p>
          <a:p xmlns:a="http://schemas.openxmlformats.org/drawingml/2006/main">
            <a:r>
              <a:t>Fonte: packages/domain/src/types.ts:23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E02.</a:t>
            </a:r>
          </a:p>
          <a:p xmlns:a="http://schemas.openxmlformats.org/drawingml/2006/main">
            <a:r>
              <a:t>Captura real: screenshots/E02-cadastro-empresa.jpg. Dados fictícios. Capturada em 15/10/2026 no protótipo local.</a:t>
            </a:r>
          </a:p>
          <a:p xmlns:a="http://schemas.openxmlformats.org/drawingml/2006/main">
            <a:r>
              <a:t>Fonte: apps/web/src/modules/companies/CompaniesPage.tsx</a:t>
            </a:r>
          </a:p>
          <a:p xmlns:a="http://schemas.openxmlformats.org/drawingml/2006/main">
            <a:r>
              <a:t>Fonte: packages/domain/src/schemas.ts</a:t>
            </a:r>
          </a:p>
          <a:p xmlns:a="http://schemas.openxmlformats.org/drawingml/2006/main">
            <a:r>
              <a:t>Fonte: packages/domain/src/engine.ts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E03.</a:t>
            </a:r>
          </a:p>
          <a:p xmlns:a="http://schemas.openxmlformats.org/drawingml/2006/main">
            <a:r>
              <a:t>Captura real: screenshots/E03-importar.jpg. Dados fictícios. Capturada em 15/10/2026 no protótipo local.</a:t>
            </a:r>
          </a:p>
          <a:p xmlns:a="http://schemas.openxmlformats.org/drawingml/2006/main">
            <a:r>
              <a:t>Fonte: apps/web/src/modules/companies/CompaniesPage.tsx</a:t>
            </a:r>
          </a:p>
          <a:p xmlns:a="http://schemas.openxmlformats.org/drawingml/2006/main">
            <a:r>
              <a:t>Fonte: apps/web/src/modules/companies/CompaniesPage.tsx:72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E04.</a:t>
            </a:r>
          </a:p>
          <a:p xmlns:a="http://schemas.openxmlformats.org/drawingml/2006/main">
            <a:r>
              <a:t>Captura real: screenshots/E04-detalhe-regime.jpg. Dados fictícios. Capturada em 15/10/2026 no protótipo local.</a:t>
            </a:r>
          </a:p>
          <a:p xmlns:a="http://schemas.openxmlformats.org/drawingml/2006/main">
            <a:r>
              <a:t>Fonte: Visão, Prioridades e Especificações, pp. 10–11 e 21</a:t>
            </a:r>
          </a:p>
          <a:p xmlns:a="http://schemas.openxmlformats.org/drawingml/2006/main">
            <a:r>
              <a:t>Fonte: PRD Portal Interno Apice, pp. 5–7</a:t>
            </a:r>
          </a:p>
          <a:p xmlns:a="http://schemas.openxmlformats.org/drawingml/2006/main">
            <a:r>
              <a:t>Fonte: Decisão do usuário: tarefas conforme regime e condições fiscais</a:t>
            </a:r>
          </a:p>
          <a:p xmlns:a="http://schemas.openxmlformats.org/drawingml/2006/main">
            <a:r>
              <a:t>Fonte: https://www.gov.br/sped/pt-br/assuntos/escrituracoes-digitais/efd-icms-ipi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REG-01.</a:t>
            </a:r>
          </a:p>
          <a:p xmlns:a="http://schemas.openxmlformats.org/drawingml/2006/main">
            <a:r>
              <a:t>Diagrama nativo de funcionamento esperado. Não é captura nem representação de uma interface.</a:t>
            </a:r>
          </a:p>
          <a:p xmlns:a="http://schemas.openxmlformats.org/drawingml/2006/main">
            <a:r>
              <a:t>Fonte: Visão, Prioridades e Especificações, RN04 e RN20, pp. 10 e 12</a:t>
            </a:r>
          </a:p>
          <a:p xmlns:a="http://schemas.openxmlformats.org/drawingml/2006/main">
            <a:r>
              <a:t>Fonte: PRD Portal Interno Apice, CA02, p. 17</a:t>
            </a:r>
          </a:p>
          <a:p xmlns:a="http://schemas.openxmlformats.org/drawingml/2006/main">
            <a:r>
              <a:t>Fonte: Decisão do usuário: mudança de regime com confirmação e vigência oficial</a:t>
            </a:r>
          </a:p>
          <a:p xmlns:a="http://schemas.openxmlformats.org/drawingml/2006/main">
            <a:r>
              <a:t>Fonte: https://www.gov.br/pt-br/servicos/comunicar-exclusao-do-simples-nacional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REG-02.</a:t>
            </a:r>
          </a:p>
          <a:p xmlns:a="http://schemas.openxmlformats.org/drawingml/2006/main">
            <a:r>
              <a:t>Diagrama nativo de funcionamento esperado. Não é captura nem representação de uma interface.</a:t>
            </a:r>
          </a:p>
          <a:p xmlns:a="http://schemas.openxmlformats.org/drawingml/2006/main">
            <a:r>
              <a:t>Fonte: Decisão do usuário: exemplos fiscais e adaptação por competência</a:t>
            </a:r>
          </a:p>
          <a:p xmlns:a="http://schemas.openxmlformats.org/drawingml/2006/main">
            <a:r>
              <a:t>Fonte: Visão, Prioridades e Especificações, pp. 10–13</a:t>
            </a:r>
          </a:p>
          <a:p xmlns:a="http://schemas.openxmlformats.org/drawingml/2006/main">
            <a:r>
              <a:t>Fonte: https://normas.receita.fazenda.gov.br/sijut2consulta/link.action?idAto=81268</a:t>
            </a:r>
          </a:p>
          <a:p xmlns:a="http://schemas.openxmlformats.org/drawingml/2006/main">
            <a:r>
              <a:t>Fonte: https://www.gov.br/receitafederal/pt-br/assuntos/orientacao-tributaria/declaracoes-e-demonstrativos/ecf/perguntas-e-respostas-pessoa-juridica-2018-arquivos/perguntas-e-respostas-pessoa-juridica-2018.pdf</a:t>
            </a:r>
          </a:p>
          <a:p xmlns:a="http://schemas.openxmlformats.org/drawingml/2006/main">
            <a:r>
              <a:t>Fonte: https://sped.rfb.gov.br/estatico/A6/44AEB1BBD8AB6403004C3DA1F7F8B1C27E8DE8/Perguntas%20e%20Respostas%20EFD%20Contribui%C3%A7%C3%B5es.pdf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M01.</a:t>
            </a:r>
          </a:p>
          <a:p xmlns:a="http://schemas.openxmlformats.org/drawingml/2006/main">
            <a:r>
              <a:t>Captura real: screenshots/M01-modelos.jpg. Dados fictícios. Capturada em 15/10/2026 no protótipo local.</a:t>
            </a:r>
          </a:p>
          <a:p xmlns:a="http://schemas.openxmlformats.org/drawingml/2006/main">
            <a:r>
              <a:t>Fonte: apps/web/src/modules/templates/TemplatesPage.tsx</a:t>
            </a:r>
          </a:p>
          <a:p xmlns:a="http://schemas.openxmlformats.org/drawingml/2006/main">
            <a:r>
              <a:t>Fonte: packages/domain/src/types.ts</a:t>
            </a:r>
          </a:p>
          <a:p xmlns:a="http://schemas.openxmlformats.org/drawingml/2006/main">
            <a:r>
              <a:t>Fonte: Visão, Prioridades e Especificações, RN29 e RN30, p.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M04.</a:t>
            </a:r>
          </a:p>
          <a:p xmlns:a="http://schemas.openxmlformats.org/drawingml/2006/main">
            <a:r>
              <a:t>Captura real: screenshots/M04-fluxo-etapas.jpg. Dados fictícios. Capturada em 15/10/2026 no protótipo local.</a:t>
            </a:r>
          </a:p>
          <a:p xmlns:a="http://schemas.openxmlformats.org/drawingml/2006/main">
            <a:r>
              <a:t>Fonte: apps/web/src/modules/templates/WorkflowEditor.tsx</a:t>
            </a:r>
          </a:p>
          <a:p xmlns:a="http://schemas.openxmlformats.org/drawingml/2006/main">
            <a:r>
              <a:t>Fonte: apps/web/src/modules/templates/TemplatesPage.tsx</a:t>
            </a:r>
          </a:p>
          <a:p xmlns:a="http://schemas.openxmlformats.org/drawingml/2006/main">
            <a:r>
              <a:t>Fonte: packages/domain/src/engine.ts:568</a:t>
            </a:r>
          </a:p>
          <a:p xmlns:a="http://schemas.openxmlformats.org/drawingml/2006/main">
            <a:r>
              <a:t>Fonte: Decisão do usuário: fluxos livres e reutilizáveis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M05.</a:t>
            </a:r>
          </a:p>
          <a:p xmlns:a="http://schemas.openxmlformats.org/drawingml/2006/main">
            <a:r>
              <a:t>Captura real: screenshots/M05-gerar-competencia.jpg. Dados fictícios. Capturada em 15/10/2026 no protótipo local.</a:t>
            </a:r>
          </a:p>
          <a:p xmlns:a="http://schemas.openxmlformats.org/drawingml/2006/main">
            <a:r>
              <a:t>Fonte: apps/web/src/modules/templates/TemplatesPage.tsx</a:t>
            </a:r>
          </a:p>
          <a:p xmlns:a="http://schemas.openxmlformats.org/drawingml/2006/main">
            <a:r>
              <a:t>Fonte: packages/domain/src/engine.ts:737</a:t>
            </a:r>
          </a:p>
          <a:p xmlns:a="http://schemas.openxmlformats.org/drawingml/2006/main">
            <a:r>
              <a:t>Fonte: Visão, Prioridades e Especificações, RN01–RN04, p.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T01.</a:t>
            </a:r>
          </a:p>
          <a:p xmlns:a="http://schemas.openxmlformats.org/drawingml/2006/main">
            <a:r>
              <a:t>Captura real: screenshots/T01-tarefas.jpg. Dados fictícios. Capturada em 15/10/2026 no protótipo local.</a:t>
            </a:r>
          </a:p>
          <a:p xmlns:a="http://schemas.openxmlformats.org/drawingml/2006/main">
            <a:r>
              <a:t>Fonte: apps/web/src/modules/tasks/TasksPage.tsx:149</a:t>
            </a:r>
          </a:p>
          <a:p xmlns:a="http://schemas.openxmlformats.org/drawingml/2006/main">
            <a:r>
              <a:t>Fonte: apps/web/src/shared/ui/TaskStatus.tsx:17</a:t>
            </a:r>
          </a:p>
          <a:p xmlns:a="http://schemas.openxmlformats.org/drawingml/2006/main">
            <a:r>
              <a:t>Fonte: packages/domain/src/selectors.ts:26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O01.</a:t>
            </a:r>
          </a:p>
          <a:p xmlns:a="http://schemas.openxmlformats.org/drawingml/2006/main">
            <a:r>
              <a:t>Captura real: screenshots/O01-minhas-tarefas.jpg. Dados fictícios. Capturada em 15/10/2026 no protótipo local.</a:t>
            </a:r>
          </a:p>
          <a:p xmlns:a="http://schemas.openxmlformats.org/drawingml/2006/main">
            <a:r>
              <a:t>Fonte: apps/web/src/app/App.tsx:203</a:t>
            </a:r>
          </a:p>
          <a:p xmlns:a="http://schemas.openxmlformats.org/drawingml/2006/main">
            <a:r>
              <a:t>Fonte: packages/domain/src/selectors.ts:26</a:t>
            </a:r>
          </a:p>
          <a:p xmlns:a="http://schemas.openxmlformats.org/drawingml/2006/main">
            <a:r>
              <a:t>Fonte: Decisão do usuário: operador executa suas tarefas e pode receber outras concessões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O03.</a:t>
            </a:r>
          </a:p>
          <a:p xmlns:a="http://schemas.openxmlformats.org/drawingml/2006/main">
            <a:r>
              <a:t>Captura real: screenshots/O03-checklist.jpg. Dados fictícios. Capturada em 15/10/2026 no protótipo local.</a:t>
            </a:r>
          </a:p>
          <a:p xmlns:a="http://schemas.openxmlformats.org/drawingml/2006/main">
            <a:r>
              <a:t>Fonte: apps/web/src/modules/tasks/TaskDrawer.tsx:309</a:t>
            </a:r>
          </a:p>
          <a:p xmlns:a="http://schemas.openxmlformats.org/drawingml/2006/main">
            <a:r>
              <a:t>Fonte: packages/domain/src/engine.ts:228</a:t>
            </a:r>
          </a:p>
          <a:p xmlns:a="http://schemas.openxmlformats.org/drawingml/2006/main">
            <a:r>
              <a:t>Fonte: packages/domain/src/engine.ts:240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T03.</a:t>
            </a:r>
          </a:p>
          <a:p xmlns:a="http://schemas.openxmlformats.org/drawingml/2006/main">
            <a:r>
              <a:t>Captura real: screenshots/T03-evidencias.jpg. Dados fictícios. Capturada em 15/10/2026 no protótipo local.</a:t>
            </a:r>
          </a:p>
          <a:p xmlns:a="http://schemas.openxmlformats.org/drawingml/2006/main">
            <a:r>
              <a:t>Fonte: apps/web/src/modules/tasks/TaskDrawer.tsx</a:t>
            </a:r>
          </a:p>
          <a:p xmlns:a="http://schemas.openxmlformats.org/drawingml/2006/main">
            <a:r>
              <a:t>Fonte: packages/domain/src/engine.ts:455</a:t>
            </a:r>
          </a:p>
          <a:p xmlns:a="http://schemas.openxmlformats.org/drawingml/2006/main">
            <a:r>
              <a:t>Fonte: packages/domain/src/files.ts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T02.</a:t>
            </a:r>
          </a:p>
          <a:p xmlns:a="http://schemas.openxmlformats.org/drawingml/2006/main">
            <a:r>
              <a:t>Captura real: screenshots/T02-detalhe-conferencia.jpg. Dados fictícios. Capturada em 15/10/2026 no protótipo local.</a:t>
            </a:r>
          </a:p>
          <a:p xmlns:a="http://schemas.openxmlformats.org/drawingml/2006/main">
            <a:r>
              <a:t>Fonte: apps/web/src/modules/tasks/TaskDrawer.tsx:581</a:t>
            </a:r>
          </a:p>
          <a:p xmlns:a="http://schemas.openxmlformats.org/drawingml/2006/main">
            <a:r>
              <a:t>Fonte: packages/domain/src/engine.ts:240</a:t>
            </a:r>
          </a:p>
          <a:p xmlns:a="http://schemas.openxmlformats.org/drawingml/2006/main">
            <a:r>
              <a:t>Fonte: Visão, Prioridades e Especificações, RN09–RN12, p.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T05.</a:t>
            </a:r>
          </a:p>
          <a:p xmlns:a="http://schemas.openxmlformats.org/drawingml/2006/main">
            <a:r>
              <a:t>Captura real: screenshots/T05-nova-tarefa.jpg. Dados fictícios. Capturada em 15/10/2026 no protótipo local.</a:t>
            </a:r>
          </a:p>
          <a:p xmlns:a="http://schemas.openxmlformats.org/drawingml/2006/main">
            <a:r>
              <a:t>Fonte: apps/web/src/modules/tasks/TaskForms.tsx:18</a:t>
            </a:r>
          </a:p>
          <a:p xmlns:a="http://schemas.openxmlformats.org/drawingml/2006/main">
            <a:r>
              <a:t>Fonte: packages/domain/src/engine.ts:618</a:t>
            </a:r>
          </a:p>
          <a:p xmlns:a="http://schemas.openxmlformats.org/drawingml/2006/main">
            <a:r>
              <a:t>Fonte: Visão, Prioridades e Especificações, RN13–RN16, p. 11</a:t>
            </a:r>
          </a:p>
          <a:p xmlns:a="http://schemas.openxmlformats.org/drawingml/2006/main">
            <a:r>
              <a:t>Fonte: Decisão do usuário: fluxo funcional esperado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D01.</a:t>
            </a:r>
          </a:p>
          <a:p xmlns:a="http://schemas.openxmlformats.org/drawingml/2006/main">
            <a:r>
              <a:t>Captura real: screenshots/D01-documentos.jpg. Dados fictícios. Capturada em 15/10/2026 no protótipo local.</a:t>
            </a:r>
          </a:p>
          <a:p xmlns:a="http://schemas.openxmlformats.org/drawingml/2006/main">
            <a:r>
              <a:t>Fonte: apps/web/src/modules/documents/DocumentsPage.tsx</a:t>
            </a:r>
          </a:p>
          <a:p xmlns:a="http://schemas.openxmlformats.org/drawingml/2006/main">
            <a:r>
              <a:t>Fonte: packages/domain/src/selectors.ts:26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R01.</a:t>
            </a:r>
          </a:p>
          <a:p xmlns:a="http://schemas.openxmlformats.org/drawingml/2006/main">
            <a:r>
              <a:t>Captura real: screenshots/R01-relatorios.jpg. Dados fictícios. Capturada em 15/10/2026 no protótipo local.</a:t>
            </a:r>
          </a:p>
          <a:p xmlns:a="http://schemas.openxmlformats.org/drawingml/2006/main">
            <a:r>
              <a:t>Fonte: apps/web/src/modules/reports/ReportsPage.tsx</a:t>
            </a:r>
          </a:p>
          <a:p xmlns:a="http://schemas.openxmlformats.org/drawingml/2006/main">
            <a:r>
              <a:t>Fonte: Decisão do usuário: relatórios operacionais e de conciliação por concessão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R02.</a:t>
            </a:r>
          </a:p>
          <a:p xmlns:a="http://schemas.openxmlformats.org/drawingml/2006/main">
            <a:r>
              <a:t>Captura real: screenshots/R02-desempenho.jpg. Dados fictícios. Capturada em 15/10/2026 no protótipo local.</a:t>
            </a:r>
          </a:p>
          <a:p xmlns:a="http://schemas.openxmlformats.org/drawingml/2006/main">
            <a:r>
              <a:t>Fonte: apps/web/src/modules/reports/ReportsPage.tsx</a:t>
            </a:r>
          </a:p>
          <a:p xmlns:a="http://schemas.openxmlformats.org/drawingml/2006/main">
            <a:r>
              <a:t>Fonte: Decisão do usuário: separar relatórios operacionais de desempenho individual</a:t>
            </a:r>
          </a:p>
          <a:p xmlns:a="http://schemas.openxmlformats.org/drawingml/2006/main">
            <a:r>
              <a:t>Fonte: Visão, Prioridades e Especificações, pp. 18–19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P03.</a:t>
            </a:r>
          </a:p>
          <a:p xmlns:a="http://schemas.openxmlformats.org/drawingml/2006/main">
            <a:r>
              <a:t>Captura real: screenshots/P03-tv-exibicao.jpg. Dados fictícios. Capturada em 15/10/2026 no protótipo local.</a:t>
            </a:r>
          </a:p>
          <a:p xmlns:a="http://schemas.openxmlformats.org/drawingml/2006/main">
            <a:r>
              <a:t>Fonte: apps/web/src/modules/tv/TvPage.tsx</a:t>
            </a:r>
          </a:p>
          <a:p xmlns:a="http://schemas.openxmlformats.org/drawingml/2006/main">
            <a:r>
              <a:t>Fonte: packages/domain/src/tv.ts</a:t>
            </a:r>
          </a:p>
          <a:p xmlns:a="http://schemas.openxmlformats.org/drawingml/2006/main">
            <a:r>
              <a:t>Fonte: docs/PAINEL-TV.md</a:t>
            </a:r>
          </a:p>
          <a:p xmlns:a="http://schemas.openxmlformats.org/drawingml/2006/main">
            <a:r>
              <a:t>Fonte: Decisão do usuário: TV branca, contraste azul e vínculo nominal das tarefas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P02.</a:t>
            </a:r>
          </a:p>
          <a:p xmlns:a="http://schemas.openxmlformats.org/drawingml/2006/main">
            <a:r>
              <a:t>Captura real: screenshots/P02-dispositivo.jpg. Dados fictícios. Capturada em 15/10/2026 no protótipo local.</a:t>
            </a:r>
          </a:p>
          <a:p xmlns:a="http://schemas.openxmlformats.org/drawingml/2006/main">
            <a:r>
              <a:t>Fonte: apps/web/src/modules/tv/TvPage.tsx</a:t>
            </a:r>
          </a:p>
          <a:p xmlns:a="http://schemas.openxmlformats.org/drawingml/2006/main">
            <a:r>
              <a:t>Fonte: apps/api/src/tv/tv.service.ts</a:t>
            </a:r>
          </a:p>
          <a:p xmlns:a="http://schemas.openxmlformats.org/drawingml/2006/main">
            <a:r>
              <a:t>Fonte: apps/api/src/tv/tv.controller.ts</a:t>
            </a:r>
          </a:p>
          <a:p xmlns:a="http://schemas.openxmlformats.org/drawingml/2006/main">
            <a:r>
              <a:t>Fonte: docs/PAINEL-TV.md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Tela ou fluxo: C02.</a:t>
            </a:r>
          </a:p>
          <a:p xmlns:a="http://schemas.openxmlformats.org/drawingml/2006/main">
            <a:r>
              <a:t>Captura real: screenshots/C02-auditoria.jpg. Dados fictícios. Capturada em 15/10/2026 no protótipo local.</a:t>
            </a:r>
          </a:p>
          <a:p xmlns:a="http://schemas.openxmlformats.org/drawingml/2006/main">
            <a:r>
              <a:t>Fonte: apps/web/src/modules/settings/SettingsPage.tsx</a:t>
            </a:r>
          </a:p>
          <a:p xmlns:a="http://schemas.openxmlformats.org/drawingml/2006/main">
            <a:r>
              <a:t>Fonte: packages/domain/src/engine.ts</a:t>
            </a:r>
          </a:p>
          <a:p xmlns:a="http://schemas.openxmlformats.org/drawingml/2006/main">
            <a:r>
              <a:t>Fonte: Visão, Prioridades e Especificações, RN20, p.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d4ebfa9b848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9de1d9b1848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3aa67467742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1d431a1c04e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e9fcb1dc447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4ee3489a3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38819D-AA1E-4F1D-B9D9-EDF631959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2C20E2-2670-4984-A759-83B6333F3D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65AD54-4B0D-4634-A216-8CE776196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10E9D1-D5AF-4718-8B0F-DBA477C7C4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AA23EC5-D79B-404A-AC97-933E295157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9BAB1A-2053-4DCA-AC69-9E3ABFD3D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C0911D-9886-4D09-B2EF-FFD3E9227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F0C483-B41C-45CD-BB9F-3D199BA59C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B9E94F-B4E7-493F-8906-8ADF2C1A80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5C5AEC-FC64-4B4C-9EB4-EBD055873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02a71547324a4e" /><Relationship Type="http://schemas.openxmlformats.org/officeDocument/2006/relationships/slideLayout" Target="/ppt/slideLayouts/slideLayout1.xml" Id="R0db60fbf086c4cf6" /><Relationship Type="http://schemas.openxmlformats.org/officeDocument/2006/relationships/slideLayout" Target="/ppt/slideLayouts/slideLayout2.xml" Id="Rf5bb48fa1a8249dd" /><Relationship Type="http://schemas.openxmlformats.org/officeDocument/2006/relationships/slideLayout" Target="/ppt/slideLayouts/slideLayout3.xml" Id="Rfdd16b4b7ee8433f" /><Relationship Type="http://schemas.openxmlformats.org/officeDocument/2006/relationships/slideLayout" Target="/ppt/slideLayouts/slideLayout4.xml" Id="R7b6c189dada0499e" /><Relationship Type="http://schemas.openxmlformats.org/officeDocument/2006/relationships/slideLayout" Target="/ppt/slideLayouts/slideLayout5.xml" Id="R3e93470048c3446f" /><Relationship Type="http://schemas.openxmlformats.org/officeDocument/2006/relationships/slideLayout" Target="/ppt/slideLayouts/slideLayout6.xml" Id="Rd51a13ccb02540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b60fbf086c4cf6"/>
    <p:sldLayoutId xmlns:r="http://schemas.openxmlformats.org/officeDocument/2006/relationships" id="2147483650" r:id="Rf5bb48fa1a8249dd"/>
    <p:sldLayoutId xmlns:r="http://schemas.openxmlformats.org/officeDocument/2006/relationships" id="2147483651" r:id="Rfdd16b4b7ee8433f"/>
    <p:sldLayoutId xmlns:r="http://schemas.openxmlformats.org/officeDocument/2006/relationships" id="2147483652" r:id="R7b6c189dada0499e"/>
    <p:sldLayoutId xmlns:r="http://schemas.openxmlformats.org/officeDocument/2006/relationships" id="2147483653" r:id="R3e93470048c3446f"/>
    <p:sldLayoutId xmlns:r="http://schemas.openxmlformats.org/officeDocument/2006/relationships" id="2147483654" r:id="Rd51a13ccb02540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8513d3854411c" /><Relationship Type="http://schemas.openxmlformats.org/officeDocument/2006/relationships/notesSlide" Target="/ppt/notesSlides/notesSlide1.xml" Id="Rcc30d8b9974d4b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8e1cfc77b4b5a" /><Relationship Type="http://schemas.openxmlformats.org/officeDocument/2006/relationships/notesSlide" Target="/ppt/notesSlides/notesSlide2.xml" Id="R511486b085aa4b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e1ed6af8c44cda" /><Relationship Type="http://schemas.openxmlformats.org/officeDocument/2006/relationships/image" Target="/ppt/media/image.jpeg" Id="R75d0e59d26f2466c" /><Relationship Type="http://schemas.openxmlformats.org/officeDocument/2006/relationships/notesSlide" Target="/ppt/notesSlides/notesSlide3.xml" Id="Rcd1df91209bf42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ade8dc5c74f5d" /><Relationship Type="http://schemas.openxmlformats.org/officeDocument/2006/relationships/image" Target="/ppt/media/image2.jpeg" Id="R845cc394ee004e12" /><Relationship Type="http://schemas.openxmlformats.org/officeDocument/2006/relationships/notesSlide" Target="/ppt/notesSlides/notesSlide4.xml" Id="Ra15e280499dc47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6893aa55c0481e" /><Relationship Type="http://schemas.openxmlformats.org/officeDocument/2006/relationships/image" Target="/ppt/media/image3.jpeg" Id="R9dbd0ecde37b4ab6" /><Relationship Type="http://schemas.openxmlformats.org/officeDocument/2006/relationships/notesSlide" Target="/ppt/notesSlides/notesSlide5.xml" Id="Rba2bc5b5feb44e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062f750774359" /><Relationship Type="http://schemas.openxmlformats.org/officeDocument/2006/relationships/image" Target="/ppt/media/image4.jpeg" Id="R242c571ae1754dea" /><Relationship Type="http://schemas.openxmlformats.org/officeDocument/2006/relationships/notesSlide" Target="/ppt/notesSlides/notesSlide6.xml" Id="Raeda1cdc6e3742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7d6830ade42ee" /><Relationship Type="http://schemas.openxmlformats.org/officeDocument/2006/relationships/image" Target="/ppt/media/image5.jpeg" Id="R095de36fae2b4c4e" /><Relationship Type="http://schemas.openxmlformats.org/officeDocument/2006/relationships/notesSlide" Target="/ppt/notesSlides/notesSlide7.xml" Id="Rce17262c899945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0fe943ebd4c2d" /><Relationship Type="http://schemas.openxmlformats.org/officeDocument/2006/relationships/image" Target="/ppt/media/image6.jpeg" Id="R0862675b9f224631" /><Relationship Type="http://schemas.openxmlformats.org/officeDocument/2006/relationships/notesSlide" Target="/ppt/notesSlides/notesSlide8.xml" Id="R6001ffdbfe2544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7c5f597b74254" /><Relationship Type="http://schemas.openxmlformats.org/officeDocument/2006/relationships/image" Target="/ppt/media/image7.jpeg" Id="R15a9f3cfa4dd47ba" /><Relationship Type="http://schemas.openxmlformats.org/officeDocument/2006/relationships/notesSlide" Target="/ppt/notesSlides/notesSlide9.xml" Id="R10e8cf6ae5674a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0389cd3e9408d" /><Relationship Type="http://schemas.openxmlformats.org/officeDocument/2006/relationships/image" Target="/ppt/media/image8.jpeg" Id="R8775d6b039ec406d" /><Relationship Type="http://schemas.openxmlformats.org/officeDocument/2006/relationships/notesSlide" Target="/ppt/notesSlides/notesSlide10.xml" Id="Rb86e035a289048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6228d9f7f4179" /><Relationship Type="http://schemas.openxmlformats.org/officeDocument/2006/relationships/image" Target="/ppt/media/image9.jpeg" Id="R747cb868db9542e8" /><Relationship Type="http://schemas.openxmlformats.org/officeDocument/2006/relationships/notesSlide" Target="/ppt/notesSlides/notesSlide11.xml" Id="R0a6f247053e241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241c459964f1d" /><Relationship Type="http://schemas.openxmlformats.org/officeDocument/2006/relationships/notesSlide" Target="/ppt/notesSlides/notesSlide12.xml" Id="Rbcf3aff44e3f46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b889c855a4535" /><Relationship Type="http://schemas.openxmlformats.org/officeDocument/2006/relationships/notesSlide" Target="/ppt/notesSlides/notesSlide13.xml" Id="R7dfedb4ee59b4a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81335986b44faf" /><Relationship Type="http://schemas.openxmlformats.org/officeDocument/2006/relationships/image" Target="/ppt/media/image10.jpeg" Id="R03d234a8f04e4fca" /><Relationship Type="http://schemas.openxmlformats.org/officeDocument/2006/relationships/notesSlide" Target="/ppt/notesSlides/notesSlide14.xml" Id="R033257048f954b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b1b0537624fa2" /><Relationship Type="http://schemas.openxmlformats.org/officeDocument/2006/relationships/image" Target="/ppt/media/image11.jpeg" Id="R6f9eb44129e54f08" /><Relationship Type="http://schemas.openxmlformats.org/officeDocument/2006/relationships/notesSlide" Target="/ppt/notesSlides/notesSlide15.xml" Id="Re55aac5239c046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44f499cfec4f2f" /><Relationship Type="http://schemas.openxmlformats.org/officeDocument/2006/relationships/image" Target="/ppt/media/image12.jpeg" Id="R1254a515606648fe" /><Relationship Type="http://schemas.openxmlformats.org/officeDocument/2006/relationships/notesSlide" Target="/ppt/notesSlides/notesSlide16.xml" Id="Rcffefd46a1444d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a01b50052466d" /><Relationship Type="http://schemas.openxmlformats.org/officeDocument/2006/relationships/image" Target="/ppt/media/image13.jpeg" Id="R6bcbf1ae363e4b41" /><Relationship Type="http://schemas.openxmlformats.org/officeDocument/2006/relationships/notesSlide" Target="/ppt/notesSlides/notesSlide17.xml" Id="R5c9034d684074b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14814d567c443f" /><Relationship Type="http://schemas.openxmlformats.org/officeDocument/2006/relationships/image" Target="/ppt/media/image14.jpeg" Id="R7a59db945830457e" /><Relationship Type="http://schemas.openxmlformats.org/officeDocument/2006/relationships/notesSlide" Target="/ppt/notesSlides/notesSlide18.xml" Id="R3f63ccbd1e0942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4dd514f158482a" /><Relationship Type="http://schemas.openxmlformats.org/officeDocument/2006/relationships/image" Target="/ppt/media/image15.jpeg" Id="Rf239c436f7794e9f" /><Relationship Type="http://schemas.openxmlformats.org/officeDocument/2006/relationships/notesSlide" Target="/ppt/notesSlides/notesSlide19.xml" Id="R4cc375d8a47f4f0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b1b5e0de84d0e" /><Relationship Type="http://schemas.openxmlformats.org/officeDocument/2006/relationships/image" Target="/ppt/media/image16.jpeg" Id="R0576b69b67864150" /><Relationship Type="http://schemas.openxmlformats.org/officeDocument/2006/relationships/notesSlide" Target="/ppt/notesSlides/notesSlide20.xml" Id="Ra5edf714133243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e9b66323964830" /><Relationship Type="http://schemas.openxmlformats.org/officeDocument/2006/relationships/image" Target="/ppt/media/image17.jpeg" Id="Reb4058fe8b834fc1" /><Relationship Type="http://schemas.openxmlformats.org/officeDocument/2006/relationships/notesSlide" Target="/ppt/notesSlides/notesSlide21.xml" Id="R0ed864785fc149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0165f42164f42" /><Relationship Type="http://schemas.openxmlformats.org/officeDocument/2006/relationships/image" Target="/ppt/media/image18.jpeg" Id="R066661fe6df54742" /><Relationship Type="http://schemas.openxmlformats.org/officeDocument/2006/relationships/notesSlide" Target="/ppt/notesSlides/notesSlide22.xml" Id="Rd7d523f4fcff4ed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0ae64b9824f6a" /><Relationship Type="http://schemas.openxmlformats.org/officeDocument/2006/relationships/image" Target="/ppt/media/image19.jpeg" Id="Rf5e3b44d16424630" /><Relationship Type="http://schemas.openxmlformats.org/officeDocument/2006/relationships/notesSlide" Target="/ppt/notesSlides/notesSlide23.xml" Id="Re106a0a5f165477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d05b69b4a419f" /><Relationship Type="http://schemas.openxmlformats.org/officeDocument/2006/relationships/image" Target="/ppt/media/image20.jpeg" Id="Reb35e38b5c6043ba" /><Relationship Type="http://schemas.openxmlformats.org/officeDocument/2006/relationships/notesSlide" Target="/ppt/notesSlides/notesSlide24.xml" Id="R0f7f9529840344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b612bda12494f" /><Relationship Type="http://schemas.openxmlformats.org/officeDocument/2006/relationships/image" Target="/ppt/media/image21.jpeg" Id="R49527d1e96114af6" /><Relationship Type="http://schemas.openxmlformats.org/officeDocument/2006/relationships/notesSlide" Target="/ppt/notesSlides/notesSlide25.xml" Id="Rba976982916940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d79a7013e4120" /><Relationship Type="http://schemas.openxmlformats.org/officeDocument/2006/relationships/image" Target="/ppt/media/image22.jpeg" Id="R218d8ac845014531" /><Relationship Type="http://schemas.openxmlformats.org/officeDocument/2006/relationships/notesSlide" Target="/ppt/notesSlides/notesSlide26.xml" Id="R829da16aa6c64da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44a25273240f9" /><Relationship Type="http://schemas.openxmlformats.org/officeDocument/2006/relationships/image" Target="/ppt/media/image23.jpeg" Id="R285b9f17d23f4d79" /><Relationship Type="http://schemas.openxmlformats.org/officeDocument/2006/relationships/notesSlide" Target="/ppt/notesSlides/notesSlide27.xml" Id="R076dfe12ed3e4c1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7edd7217c4b37" /><Relationship Type="http://schemas.openxmlformats.org/officeDocument/2006/relationships/image" Target="/ppt/media/image24.jpeg" Id="Rac334a25c9d24c9e" /><Relationship Type="http://schemas.openxmlformats.org/officeDocument/2006/relationships/notesSlide" Target="/ppt/notesSlides/notesSlide28.xml" Id="R2da0e955c2074c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brand">
            <a:extLst xmlns:a="http://schemas.openxmlformats.org/drawingml/2006/main">
              <a:ext uri="{FF2B5EF4-FFF2-40B4-BE49-F238E27FC236}">
                <a16:creationId xmlns:a16="http://schemas.microsoft.com/office/drawing/2014/main" id="{DDA6F536-2E02-4859-B664-06EFC0D3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1238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Ápice Contábil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9D6A69C-3908-4432-989F-7982D94C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333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Portal interno Ápice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B8FFD4A-E2CF-4547-9DBB-A8C94443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29025"/>
            <a:ext cx="1285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E7F87"/>
                </a:solidFill>
                <a:latin typeface="Arial"/>
                <a:ea typeface="Arial"/>
                <a:cs typeface="Arial"/>
              </a:rPr>
              <a:t>Jornadas e funcionamento do sistema</a:t>
            </a:r>
          </a:p>
        </p:txBody>
      </p:sp>
      <p:sp>
        <p:nvSpPr>
          <p:cNvPr id="4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A92FC792-AEF3-4AAE-AD6F-052F41E3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1238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Telas reais do protótipo e uma explicação breve de cada jornada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256FBA4C-AE1A-46AF-8449-71EB0DA4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1344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FC4"/>
          </a:solidFill>
          <a:ln xmlns:a="http://schemas.openxmlformats.org/drawingml/2006/main" w="9525">
            <a:solidFill>
              <a:srgbClr val="16AFC4"/>
            </a:solidFill>
          </a:ln>
        </p:spPr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001C7D0F-3E79-4FCF-AE7A-5A4BDCD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3905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15/10/2026</a:t>
            </a:r>
          </a:p>
        </p:txBody>
      </p:sp>
      <p:sp>
        <p:nvSpPr>
          <p:cNvPr id="7" name="cover-note">
            <a:extLst xmlns:a="http://schemas.openxmlformats.org/drawingml/2006/main">
              <a:ext uri="{FF2B5EF4-FFF2-40B4-BE49-F238E27FC236}">
                <a16:creationId xmlns:a16="http://schemas.microsoft.com/office/drawing/2014/main" id="{BD7E5544-3633-458D-8DE7-48E6C601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639050"/>
            <a:ext cx="509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7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Capturas com dados fictícios</a:t>
            </a:r>
          </a:p>
        </p:txBody>
      </p:sp>
    </p:spTree>
    <p:extLst>
      <p:ext uri="{BB962C8B-B14F-4D97-AF65-F5344CB8AC3E}">
        <p14:creationId xmlns:p14="http://schemas.microsoft.com/office/powerpoint/2010/main" val="181191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328BA-CF02-4A7C-96BD-76A7A49059AB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1715750" y="3867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7F8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1320D-19DF-4F2E-813F-6DF397F48917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58250" y="3867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7F87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1F77A-720E-4C57-AD48-F8D531B096F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00750" y="3867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7F87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7C16B-B883-4BF7-A897-BEA2A963743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43250" y="38671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7F87"/>
            </a:solidFill>
            <a:tailEnd type="arrow" w="med" len="med"/>
          </a:ln>
        </p:spPr>
      </p:cxnSp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EBB822D8-DD8D-46B4-B364-78497FAE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JORNADA PRINCIPAL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D4EF5-B93F-4D22-B8A0-F2A7CC4A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O caminho do trabalho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0BA1085-8353-4563-8E3A-5FBCB174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57BE52F-993F-4CBB-8DDF-6298B26E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464E1-BAE6-446F-844F-B728050C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02  /  MAP-01</a:t>
            </a:r>
          </a:p>
        </p:txBody>
      </p:sp>
      <p:sp>
        <p:nvSpPr>
          <p:cNvPr id="6" name="Empresas">
            <a:extLst xmlns:a="http://schemas.openxmlformats.org/drawingml/2006/main">
              <a:ext uri="{FF2B5EF4-FFF2-40B4-BE49-F238E27FC236}">
                <a16:creationId xmlns:a16="http://schemas.microsoft.com/office/drawing/2014/main" id="{B75CBE0E-77D8-43A7-AF08-6085E786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4765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7" name="Empresas-title">
            <a:extLst xmlns:a="http://schemas.openxmlformats.org/drawingml/2006/main">
              <a:ext uri="{FF2B5EF4-FFF2-40B4-BE49-F238E27FC236}">
                <a16:creationId xmlns:a16="http://schemas.microsoft.com/office/drawing/2014/main" id="{16569E41-0D63-4E27-8608-CEB2E32A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Empresas</a:t>
            </a:r>
          </a:p>
        </p:txBody>
      </p:sp>
      <p:sp>
        <p:nvSpPr>
          <p:cNvPr id="8" name="Empresas-detail">
            <a:extLst xmlns:a="http://schemas.openxmlformats.org/drawingml/2006/main">
              <a:ext uri="{FF2B5EF4-FFF2-40B4-BE49-F238E27FC236}">
                <a16:creationId xmlns:a16="http://schemas.microsoft.com/office/drawing/2014/main" id="{DA92496D-BA9E-4844-B9CB-4D9DD9B2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2057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Carteira e contexto fiscal</a:t>
            </a:r>
          </a:p>
        </p:txBody>
      </p:sp>
      <p:sp>
        <p:nvSpPr>
          <p:cNvPr id="9" name="Modelos">
            <a:extLst xmlns:a="http://schemas.openxmlformats.org/drawingml/2006/main">
              <a:ext uri="{FF2B5EF4-FFF2-40B4-BE49-F238E27FC236}">
                <a16:creationId xmlns:a16="http://schemas.microsoft.com/office/drawing/2014/main" id="{149D4701-5233-4554-9D80-3C692D6D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4765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10" name="Modelos-title">
            <a:extLst xmlns:a="http://schemas.openxmlformats.org/drawingml/2006/main">
              <a:ext uri="{FF2B5EF4-FFF2-40B4-BE49-F238E27FC236}">
                <a16:creationId xmlns:a16="http://schemas.microsoft.com/office/drawing/2014/main" id="{0E8AD4D6-F131-453A-99AC-DBFF73FC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Modelos</a:t>
            </a:r>
          </a:p>
        </p:txBody>
      </p:sp>
      <p:sp>
        <p:nvSpPr>
          <p:cNvPr id="11" name="Modelos-detail">
            <a:extLst xmlns:a="http://schemas.openxmlformats.org/drawingml/2006/main">
              <a:ext uri="{FF2B5EF4-FFF2-40B4-BE49-F238E27FC236}">
                <a16:creationId xmlns:a16="http://schemas.microsoft.com/office/drawing/2014/main" id="{912C3163-9E40-4082-8057-23E7CBB1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43325"/>
            <a:ext cx="2057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Obrigações e etapas</a:t>
            </a:r>
          </a:p>
        </p:txBody>
      </p:sp>
      <p:sp>
        <p:nvSpPr>
          <p:cNvPr id="12" name="Tarefas">
            <a:extLst xmlns:a="http://schemas.openxmlformats.org/drawingml/2006/main">
              <a:ext uri="{FF2B5EF4-FFF2-40B4-BE49-F238E27FC236}">
                <a16:creationId xmlns:a16="http://schemas.microsoft.com/office/drawing/2014/main" id="{38B4C06E-D98F-4E5B-8F88-30BBA4D6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4765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13" name="Tarefas-title">
            <a:extLst xmlns:a="http://schemas.openxmlformats.org/drawingml/2006/main">
              <a:ext uri="{FF2B5EF4-FFF2-40B4-BE49-F238E27FC236}">
                <a16:creationId xmlns:a16="http://schemas.microsoft.com/office/drawing/2014/main" id="{2728690E-DDF8-458D-916E-38049648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242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Tarefas</a:t>
            </a:r>
          </a:p>
        </p:txBody>
      </p:sp>
      <p:sp>
        <p:nvSpPr>
          <p:cNvPr id="14" name="Tarefas-detail">
            <a:extLst xmlns:a="http://schemas.openxmlformats.org/drawingml/2006/main">
              <a:ext uri="{FF2B5EF4-FFF2-40B4-BE49-F238E27FC236}">
                <a16:creationId xmlns:a16="http://schemas.microsoft.com/office/drawing/2014/main" id="{439F41DA-E790-4F92-8CE0-B161EFE1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43325"/>
            <a:ext cx="2057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Competência e responsável</a:t>
            </a:r>
          </a:p>
        </p:txBody>
      </p:sp>
      <p:sp>
        <p:nvSpPr>
          <p:cNvPr id="15" name="Execução">
            <a:extLst xmlns:a="http://schemas.openxmlformats.org/drawingml/2006/main">
              <a:ext uri="{FF2B5EF4-FFF2-40B4-BE49-F238E27FC236}">
                <a16:creationId xmlns:a16="http://schemas.microsoft.com/office/drawing/2014/main" id="{F3889D2E-54E7-4C45-B8FB-55595C1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05125"/>
            <a:ext cx="24765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16" name="Execução-title">
            <a:extLst xmlns:a="http://schemas.openxmlformats.org/drawingml/2006/main">
              <a:ext uri="{FF2B5EF4-FFF2-40B4-BE49-F238E27FC236}">
                <a16:creationId xmlns:a16="http://schemas.microsoft.com/office/drawing/2014/main" id="{10322FB4-77D8-427D-9319-DEAB7500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242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17" name="Execução-detail">
            <a:extLst xmlns:a="http://schemas.openxmlformats.org/drawingml/2006/main">
              <a:ext uri="{FF2B5EF4-FFF2-40B4-BE49-F238E27FC236}">
                <a16:creationId xmlns:a16="http://schemas.microsoft.com/office/drawing/2014/main" id="{E170CD5F-9537-44DB-AC92-16AD09C3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43325"/>
            <a:ext cx="2057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Evidência e conferência</a:t>
            </a:r>
          </a:p>
        </p:txBody>
      </p:sp>
      <p:sp>
        <p:nvSpPr>
          <p:cNvPr id="18" name="Resultados">
            <a:extLst xmlns:a="http://schemas.openxmlformats.org/drawingml/2006/main">
              <a:ext uri="{FF2B5EF4-FFF2-40B4-BE49-F238E27FC236}">
                <a16:creationId xmlns:a16="http://schemas.microsoft.com/office/drawing/2014/main" id="{C808FB7D-57AF-4987-AD65-9861C93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905125"/>
            <a:ext cx="247650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19" name="Resultados-title">
            <a:extLst xmlns:a="http://schemas.openxmlformats.org/drawingml/2006/main">
              <a:ext uri="{FF2B5EF4-FFF2-40B4-BE49-F238E27FC236}">
                <a16:creationId xmlns:a16="http://schemas.microsoft.com/office/drawing/2014/main" id="{E3B8162A-7FFD-4A60-8535-88AF69E5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124200"/>
            <a:ext cx="2057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20" name="Resultados-detail">
            <a:extLst xmlns:a="http://schemas.openxmlformats.org/drawingml/2006/main">
              <a:ext uri="{FF2B5EF4-FFF2-40B4-BE49-F238E27FC236}">
                <a16:creationId xmlns:a16="http://schemas.microsoft.com/office/drawing/2014/main" id="{BB5D9562-D848-499A-B896-625A79C6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743325"/>
            <a:ext cx="2057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Documentos, relatórios e TV</a:t>
            </a:r>
          </a:p>
        </p:txBody>
      </p:sp>
      <p:sp>
        <p:nvSpPr>
          <p:cNvPr id="25" name="access-context">
            <a:extLst xmlns:a="http://schemas.openxmlformats.org/drawingml/2006/main">
              <a:ext uri="{FF2B5EF4-FFF2-40B4-BE49-F238E27FC236}">
                <a16:creationId xmlns:a16="http://schemas.microsoft.com/office/drawing/2014/main" id="{54184BBD-29EA-45C8-8979-66517582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333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Login e permissões definem as abas, as ações e os dados disponíveis em cada etapa.</a:t>
            </a:r>
          </a:p>
        </p:txBody>
      </p:sp>
      <p:sp>
        <p:nvSpPr>
          <p:cNvPr id="26" name="summary">
            <a:extLst xmlns:a="http://schemas.openxmlformats.org/drawingml/2006/main">
              <a:ext uri="{FF2B5EF4-FFF2-40B4-BE49-F238E27FC236}">
                <a16:creationId xmlns:a16="http://schemas.microsoft.com/office/drawing/2014/main" id="{60540E26-2B10-45BF-8C21-B1F7F4C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gestor organiza empresas e modelos. As tarefas seguem para execução e conferência, e as entregas alimentam os documentos, os relatórios e o painel de TV.</a:t>
            </a:r>
          </a:p>
        </p:txBody>
      </p:sp>
    </p:spTree>
    <p:extLst>
      <p:ext uri="{BB962C8B-B14F-4D97-AF65-F5344CB8AC3E}">
        <p14:creationId xmlns:p14="http://schemas.microsoft.com/office/powerpoint/2010/main" val="1994518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A899B0BB-2975-4717-A978-7E95D932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ACESSO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AFA2D9-AE9E-4728-8273-4837948B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Login individual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9023C0C-24B3-4390-BA64-2F80171B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6D86BD6-E9F6-4DCE-B54C-D83D330D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CC81068-21D7-40FE-91C8-F855D94F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03  /  A01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75F61F7C-BA4C-42B0-A88B-2886BED0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248C9-AB03-4624-AC36-DE27CD842F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0e59d26f2466c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2C5E4084-13DC-465F-9009-0132128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Cada pessoa entra com seu usuário e senha. O fluxo normal inclui código por e-mail para todos e troca da senha temporária no primeiro acesso.</a:t>
            </a:r>
          </a:p>
        </p:txBody>
      </p:sp>
    </p:spTree>
    <p:extLst>
      <p:ext uri="{BB962C8B-B14F-4D97-AF65-F5344CB8AC3E}">
        <p14:creationId xmlns:p14="http://schemas.microsoft.com/office/powerpoint/2010/main" val="722891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1C946E1-B263-41BC-B87E-F7A2E81E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ACESSO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E7CA47-1E69-4E45-B8A6-DA3BF81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Recuperação de senha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CF575CA-F3F6-4496-AC80-65E5B29B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F122828-6F59-4FFE-95C8-39A7BB0D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C104D6C-A214-4BDD-9320-3C50FB22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04  /  A02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C7B00D6-E2F6-4A92-BD8F-37D074C9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BE5BA-5E43-4D52-AD40-7B332054D8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cc394ee004e12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0B4DE7A1-7866-4DD0-9015-916E2898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Em Esqueci minha senha, a pessoa informa o e-mail cadastrado e recebe instruções para definir uma nova senha. O administrador também pode atribuir uma senha temporária.</a:t>
            </a:r>
          </a:p>
        </p:txBody>
      </p:sp>
    </p:spTree>
    <p:extLst>
      <p:ext uri="{BB962C8B-B14F-4D97-AF65-F5344CB8AC3E}">
        <p14:creationId xmlns:p14="http://schemas.microsoft.com/office/powerpoint/2010/main" val="399811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F52C2419-5BCF-443B-92B5-F3678AC5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USUÁRIOS E PERMISSÕES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1F5ABC-1125-4D88-A6CD-5BA9DA5C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Cadastro de usuários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82C3292-124F-4FF1-B901-ABC3192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7AD73C1-AB9C-46D5-978E-85EF07F8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F86A2E3-2F6D-4ACD-86CD-2C506C1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05  /  U02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2A7C685-0478-4B16-B655-A9145B6F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F3E5A-B6C9-4175-BC61-42D8990320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d0ecde37b4ab6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5DD578FC-C7BF-4949-8BF6-4E37F16E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administrador cadastra nome, e-mail, usuário e senha temporária. Também define o cargo e os departamentos em que a pessoa poderá trabalhar.</a:t>
            </a:r>
          </a:p>
        </p:txBody>
      </p:sp>
    </p:spTree>
    <p:extLst>
      <p:ext uri="{BB962C8B-B14F-4D97-AF65-F5344CB8AC3E}">
        <p14:creationId xmlns:p14="http://schemas.microsoft.com/office/powerpoint/2010/main" val="478002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A6D60D80-DA75-479D-BEF3-6B777D0B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USUÁRIOS E PERMISSÕES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4F6AC2-52D0-41ED-99F6-C9ECBFB0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Abas e ações por pessoa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3CC9521-90F3-4AED-A128-CD8D1C61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46A396D-542A-4AB9-8AFC-67F720B9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A2E6A86-8F58-45CF-B229-45D6322D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06  /  U03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C479DFFC-7D9F-4A53-A121-A0DEE82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BC61A-52C3-45C5-8781-87929C3CA0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c571ae1754dea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9EFB8F9F-AE1B-423D-8419-76D1D6FA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administrador escolhe quais abas e ações cada pessoa pode usar. Pode ampliar os acessos de um operador: o cargo identifica a função, sem limitar as concessões.</a:t>
            </a:r>
          </a:p>
        </p:txBody>
      </p:sp>
    </p:spTree>
    <p:extLst>
      <p:ext uri="{BB962C8B-B14F-4D97-AF65-F5344CB8AC3E}">
        <p14:creationId xmlns:p14="http://schemas.microsoft.com/office/powerpoint/2010/main" val="1702819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00483AEF-E293-4DAB-A354-94C0064D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ACOMPANHAMENTO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29A374-33CA-40FA-A812-66A8C318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Visão geral da operação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B8B8F2C-CA2B-475A-9EEC-D6728BEC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1943D57-6D32-4D12-B8D2-313EE9D2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C7C0B74-3BAD-4042-9579-C3D9B6AB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07  /  V01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BFC175AB-8565-4579-96E4-D99E316C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F20A5-AA69-4472-A988-D6BC213F3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de36fae2b4c4e"/>
          <a:stretch xmlns:a="http://schemas.openxmlformats.org/drawingml/2006/main"/>
        </p:blipFill>
        <p:spPr>
          <a:xfrm xmlns:a="http://schemas.openxmlformats.org/drawingml/2006/main">
            <a:off x="2221586" y="1228725"/>
            <a:ext cx="10796828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3824F6BD-4A9C-4BE3-A1E5-EF93868E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 pessoa escolhe o departamento e a competência para acompanhar prazos e entregas. Ao clicar em um indicador, abre as tarefas que formam aquele resultado.</a:t>
            </a:r>
          </a:p>
        </p:txBody>
      </p:sp>
    </p:spTree>
    <p:extLst>
      <p:ext uri="{BB962C8B-B14F-4D97-AF65-F5344CB8AC3E}">
        <p14:creationId xmlns:p14="http://schemas.microsoft.com/office/powerpoint/2010/main" val="1913632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26CB8C2D-9175-4040-8E0E-68D91BEB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EMPRESAS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8D6FBD-4CA5-493D-98CC-1B6CF834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Empresas e carteira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5FD711D-FA3B-4E8B-86BA-A1359093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06AE90B-1F71-4451-BDEA-F71F81E9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FAD596B-82F9-4847-8DFF-AFF1F450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08  /  E01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45FE9F0-0477-4F65-B857-C1A2A9F4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F4C20-358F-405C-9757-41C23500E4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2675b9f224631"/>
          <a:stretch xmlns:a="http://schemas.openxmlformats.org/drawingml/2006/main"/>
        </p:blipFill>
        <p:spPr>
          <a:xfrm xmlns:a="http://schemas.openxmlformats.org/drawingml/2006/main">
            <a:off x="2221586" y="1228725"/>
            <a:ext cx="10796828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532BFFBD-D26E-422F-8577-98499600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 carteira reúne empresas, regimes e responsáveis. A busca e o filtro de regime ajudam a localizar uma empresa e abrir suas informações ou tarefas.</a:t>
            </a:r>
          </a:p>
        </p:txBody>
      </p:sp>
    </p:spTree>
    <p:extLst>
      <p:ext uri="{BB962C8B-B14F-4D97-AF65-F5344CB8AC3E}">
        <p14:creationId xmlns:p14="http://schemas.microsoft.com/office/powerpoint/2010/main" val="1464601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F5DA4361-41CA-43AB-8FC4-1B69BFE7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EMPRESAS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005BE2-C6F8-4B37-B29C-F90A3A05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Cadastro de empresa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9BE0B8E-8118-4AB7-845D-9FA55A21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CFCFFE9-F88C-4A2C-8578-0DAFAFE4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6792135-75A1-4331-AD3B-E79246F3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09  /  E02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6339464-58B4-40AF-B78E-589150C1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8845A-9B53-4321-9AE3-3F985A682E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9f3cfa4dd47ba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B8B6A0B6-E409-410D-A6D4-DA81A203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cadastro informa razão social, CNPJ, regime, localização e responsável pela carteira. O sistema deve validar os dados e evitar empresas duplicadas antes de salvar.</a:t>
            </a:r>
          </a:p>
        </p:txBody>
      </p:sp>
    </p:spTree>
    <p:extLst>
      <p:ext uri="{BB962C8B-B14F-4D97-AF65-F5344CB8AC3E}">
        <p14:creationId xmlns:p14="http://schemas.microsoft.com/office/powerpoint/2010/main" val="1577510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656FDD52-D668-45F6-BD06-DAC974D0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EMPRESAS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B11A62-67A8-45A1-A43D-221BF6E4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Importação da carteira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CBA04FA-B995-42A6-AAD8-C95E4462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651CAAD-878E-4A4A-99A6-84507FF0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1AA0449-6940-4704-8A11-422F50C5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10  /  E03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A7D8D085-37D0-451E-B33F-62A28555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E33B1-C43E-487C-AC61-73B41DAD6B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5d6b039ec406d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6245E7D3-3918-41D0-A750-5F830999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gestor seleciona o CSV, revisa os registros e confirma a importação. Empresas que já existem devem manter seus dados e histórico.</a:t>
            </a:r>
          </a:p>
        </p:txBody>
      </p:sp>
    </p:spTree>
    <p:extLst>
      <p:ext uri="{BB962C8B-B14F-4D97-AF65-F5344CB8AC3E}">
        <p14:creationId xmlns:p14="http://schemas.microsoft.com/office/powerpoint/2010/main" val="1589931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4A60B7FB-1806-43CB-9E26-8BBCD3DF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REGIMES E OBRIGAÇÕES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E86333-2750-4AFF-959C-9374940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Tarefas conforme o perfil da empresa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73F99B3-1F11-492E-8EF0-A2C4E15F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0331ABA-995B-4350-8A50-39D3751D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E640431-3C85-477E-9D0E-993E7305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11  /  E04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DD36DBB4-9EB8-47B9-9256-A4468678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A2486-469D-48D5-A293-CB0189D92F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cb868db9542e8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567202D8-7824-43AC-A438-B741441B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sistema deve combinar regime, vigência, UF e condições da empresa para definir suas obrigações. Ser contribuinte de ICMS exige avaliar a regra da UF antes de vincular a EFD ICMS/IPI.</a:t>
            </a:r>
          </a:p>
        </p:txBody>
      </p:sp>
    </p:spTree>
    <p:extLst>
      <p:ext uri="{BB962C8B-B14F-4D97-AF65-F5344CB8AC3E}">
        <p14:creationId xmlns:p14="http://schemas.microsoft.com/office/powerpoint/2010/main" val="2786179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1E2EC-1505-46E1-AE60-E0654FABFA4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953750" y="34528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7F87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99A18-F854-44F5-A5C2-93A207E9872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34250" y="34528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7F8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36D0B-200F-4B70-AE42-E03BB721295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14750" y="34528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E7F87"/>
            </a:solidFill>
            <a:tailEnd type="arrow" w="med" len="med"/>
          </a:ln>
        </p:spPr>
      </p:cxnSp>
      <p:sp>
        <p:nvSpPr>
          <p:cNvPr id="29" name="section">
            <a:extLst xmlns:a="http://schemas.openxmlformats.org/drawingml/2006/main">
              <a:ext uri="{FF2B5EF4-FFF2-40B4-BE49-F238E27FC236}">
                <a16:creationId xmlns:a16="http://schemas.microsoft.com/office/drawing/2014/main" id="{03E65CE1-06F5-4330-8504-CAF44702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REGIMES E OBRIGAÇÕES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CEC904-9CE5-4175-BAE8-AE38DCFD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Mudança de regime e adaptação das tarefas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BE0277E-EEC9-4E6A-8939-D443695E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562B2E4-5115-4771-9C4B-6831C133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5CEC7D6-6C0C-489B-A87A-5F3DCF62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12  /  REG-01</a:t>
            </a:r>
          </a:p>
        </p:txBody>
      </p:sp>
      <p:sp>
        <p:nvSpPr>
          <p:cNvPr id="6" name="flow-label">
            <a:extLst xmlns:a="http://schemas.openxmlformats.org/drawingml/2006/main">
              <a:ext uri="{FF2B5EF4-FFF2-40B4-BE49-F238E27FC236}">
                <a16:creationId xmlns:a16="http://schemas.microsoft.com/office/drawing/2014/main" id="{580F087C-F6DA-4DDB-9071-A3424A31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1333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FLUXO DE FUNCIONAMENTO</a:t>
            </a:r>
          </a:p>
        </p:txBody>
      </p:sp>
      <p:sp>
        <p:nvSpPr>
          <p:cNvPr id="7" name="Registrar mudança">
            <a:extLst xmlns:a="http://schemas.openxmlformats.org/drawingml/2006/main">
              <a:ext uri="{FF2B5EF4-FFF2-40B4-BE49-F238E27FC236}">
                <a16:creationId xmlns:a16="http://schemas.microsoft.com/office/drawing/2014/main" id="{7BE6C108-C0C7-4C6B-A958-F2DC5095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048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8" name="Registrar mudança-title">
            <a:extLst xmlns:a="http://schemas.openxmlformats.org/drawingml/2006/main">
              <a:ext uri="{FF2B5EF4-FFF2-40B4-BE49-F238E27FC236}">
                <a16:creationId xmlns:a16="http://schemas.microsoft.com/office/drawing/2014/main" id="{541ED8EF-16F3-4AA6-B3D4-E319A01A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62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Registrar mudança</a:t>
            </a:r>
          </a:p>
        </p:txBody>
      </p:sp>
      <p:sp>
        <p:nvSpPr>
          <p:cNvPr id="9" name="Registrar mudança-detail">
            <a:extLst xmlns:a="http://schemas.openxmlformats.org/drawingml/2006/main">
              <a:ext uri="{FF2B5EF4-FFF2-40B4-BE49-F238E27FC236}">
                <a16:creationId xmlns:a16="http://schemas.microsoft.com/office/drawing/2014/main" id="{82F1C93E-9477-405F-844F-3FF4FB8E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28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Regime, motivo e data de efeito</a:t>
            </a:r>
          </a:p>
        </p:txBody>
      </p:sp>
      <p:sp>
        <p:nvSpPr>
          <p:cNvPr id="10" name="Validar vigência">
            <a:extLst xmlns:a="http://schemas.openxmlformats.org/drawingml/2006/main">
              <a:ext uri="{FF2B5EF4-FFF2-40B4-BE49-F238E27FC236}">
                <a16:creationId xmlns:a16="http://schemas.microsoft.com/office/drawing/2014/main" id="{07DB9FFC-5757-4FF6-82BD-4FFAC000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3048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11" name="Validar vigência-title">
            <a:extLst xmlns:a="http://schemas.openxmlformats.org/drawingml/2006/main">
              <a:ext uri="{FF2B5EF4-FFF2-40B4-BE49-F238E27FC236}">
                <a16:creationId xmlns:a16="http://schemas.microsoft.com/office/drawing/2014/main" id="{4D38F7C1-9A2B-45DB-A82C-2AF121E2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62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Validar vigência</a:t>
            </a:r>
          </a:p>
        </p:txBody>
      </p:sp>
      <p:sp>
        <p:nvSpPr>
          <p:cNvPr id="12" name="Validar vigência-detail">
            <a:extLst xmlns:a="http://schemas.openxmlformats.org/drawingml/2006/main">
              <a:ext uri="{FF2B5EF4-FFF2-40B4-BE49-F238E27FC236}">
                <a16:creationId xmlns:a16="http://schemas.microsoft.com/office/drawing/2014/main" id="{0F2F8D3E-5FC5-4248-8042-2147B694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67075"/>
            <a:ext cx="2628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Regra oficial do caso</a:t>
            </a:r>
          </a:p>
        </p:txBody>
      </p:sp>
      <p:sp>
        <p:nvSpPr>
          <p:cNvPr id="13" name="Revisar impacto">
            <a:extLst xmlns:a="http://schemas.openxmlformats.org/drawingml/2006/main">
              <a:ext uri="{FF2B5EF4-FFF2-40B4-BE49-F238E27FC236}">
                <a16:creationId xmlns:a16="http://schemas.microsoft.com/office/drawing/2014/main" id="{BAB8050D-49E2-4599-8AB6-ABD6F019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28875"/>
            <a:ext cx="3048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14" name="Revisar impacto-title">
            <a:extLst xmlns:a="http://schemas.openxmlformats.org/drawingml/2006/main">
              <a:ext uri="{FF2B5EF4-FFF2-40B4-BE49-F238E27FC236}">
                <a16:creationId xmlns:a16="http://schemas.microsoft.com/office/drawing/2014/main" id="{94C79893-00D1-4F32-A722-D8A329D7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262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Revisar impacto</a:t>
            </a:r>
          </a:p>
        </p:txBody>
      </p:sp>
      <p:sp>
        <p:nvSpPr>
          <p:cNvPr id="15" name="Revisar impacto-detail">
            <a:extLst xmlns:a="http://schemas.openxmlformats.org/drawingml/2006/main">
              <a:ext uri="{FF2B5EF4-FFF2-40B4-BE49-F238E27FC236}">
                <a16:creationId xmlns:a16="http://schemas.microsoft.com/office/drawing/2014/main" id="{9F9C7D74-8256-481E-80B2-8E5BBFA4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67075"/>
            <a:ext cx="2628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Obrigações e competências afetadas</a:t>
            </a:r>
          </a:p>
        </p:txBody>
      </p:sp>
      <p:sp>
        <p:nvSpPr>
          <p:cNvPr id="16" name="Confirmar e aplicar">
            <a:extLst xmlns:a="http://schemas.openxmlformats.org/drawingml/2006/main">
              <a:ext uri="{FF2B5EF4-FFF2-40B4-BE49-F238E27FC236}">
                <a16:creationId xmlns:a16="http://schemas.microsoft.com/office/drawing/2014/main" id="{E6103D47-1516-4805-9CD4-5DF2EE5A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428875"/>
            <a:ext cx="30480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17" name="Confirmar e aplicar-title">
            <a:extLst xmlns:a="http://schemas.openxmlformats.org/drawingml/2006/main">
              <a:ext uri="{FF2B5EF4-FFF2-40B4-BE49-F238E27FC236}">
                <a16:creationId xmlns:a16="http://schemas.microsoft.com/office/drawing/2014/main" id="{9D54BE28-B5BD-4F8B-BAEC-D7AA69FE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647950"/>
            <a:ext cx="2628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Confirmar e aplicar</a:t>
            </a:r>
          </a:p>
        </p:txBody>
      </p:sp>
      <p:sp>
        <p:nvSpPr>
          <p:cNvPr id="18" name="Confirmar e aplicar-detail">
            <a:extLst xmlns:a="http://schemas.openxmlformats.org/drawingml/2006/main">
              <a:ext uri="{FF2B5EF4-FFF2-40B4-BE49-F238E27FC236}">
                <a16:creationId xmlns:a16="http://schemas.microsoft.com/office/drawing/2014/main" id="{8692A9A1-584D-4851-9C7B-119D3C90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267075"/>
            <a:ext cx="26289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Atualizar tarefas sem duplicar</a:t>
            </a:r>
          </a:p>
        </p:txBody>
      </p:sp>
      <p:sp>
        <p:nvSpPr>
          <p:cNvPr id="22" name="Antes da vigência">
            <a:extLst xmlns:a="http://schemas.openxmlformats.org/drawingml/2006/main">
              <a:ext uri="{FF2B5EF4-FFF2-40B4-BE49-F238E27FC236}">
                <a16:creationId xmlns:a16="http://schemas.microsoft.com/office/drawing/2014/main" id="{AA4877FC-722B-4458-9B45-574A4FA0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5953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23" name="Antes da vigência-title">
            <a:extLst xmlns:a="http://schemas.openxmlformats.org/drawingml/2006/main">
              <a:ext uri="{FF2B5EF4-FFF2-40B4-BE49-F238E27FC236}">
                <a16:creationId xmlns:a16="http://schemas.microsoft.com/office/drawing/2014/main" id="{6F8292DB-C4DF-4D23-ACE0-05435ED7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55340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Antes da vigência</a:t>
            </a:r>
          </a:p>
        </p:txBody>
      </p:sp>
      <p:sp>
        <p:nvSpPr>
          <p:cNvPr id="24" name="Antes da vigência-detail">
            <a:extLst xmlns:a="http://schemas.openxmlformats.org/drawingml/2006/main">
              <a:ext uri="{FF2B5EF4-FFF2-40B4-BE49-F238E27FC236}">
                <a16:creationId xmlns:a16="http://schemas.microsoft.com/office/drawing/2014/main" id="{D2FF380F-4B58-4D41-9ECF-C2D4145B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029325"/>
            <a:ext cx="55340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Preservar tarefas, entregas e evidências do regime anterior.</a:t>
            </a:r>
          </a:p>
        </p:txBody>
      </p:sp>
      <p:sp>
        <p:nvSpPr>
          <p:cNvPr id="25" name="A partir da vigência">
            <a:extLst xmlns:a="http://schemas.openxmlformats.org/drawingml/2006/main">
              <a:ext uri="{FF2B5EF4-FFF2-40B4-BE49-F238E27FC236}">
                <a16:creationId xmlns:a16="http://schemas.microsoft.com/office/drawing/2014/main" id="{66351CB1-B4A9-4C15-BE89-B3917321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91125"/>
            <a:ext cx="5953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26" name="A partir da vigência-title">
            <a:extLst xmlns:a="http://schemas.openxmlformats.org/drawingml/2006/main">
              <a:ext uri="{FF2B5EF4-FFF2-40B4-BE49-F238E27FC236}">
                <a16:creationId xmlns:a16="http://schemas.microsoft.com/office/drawing/2014/main" id="{818B5C4F-FBD1-4180-892E-E06A588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10200"/>
            <a:ext cx="55340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A partir da vigência</a:t>
            </a:r>
          </a:p>
        </p:txBody>
      </p:sp>
      <p:sp>
        <p:nvSpPr>
          <p:cNvPr id="27" name="A partir da vigência-detail">
            <a:extLst xmlns:a="http://schemas.openxmlformats.org/drawingml/2006/main">
              <a:ext uri="{FF2B5EF4-FFF2-40B4-BE49-F238E27FC236}">
                <a16:creationId xmlns:a16="http://schemas.microsoft.com/office/drawing/2014/main" id="{F8659530-FAE6-4942-930B-23EBD057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029325"/>
            <a:ext cx="55340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Aplicar o conjunto de obrigações válido para cada competência.</a:t>
            </a:r>
          </a:p>
        </p:txBody>
      </p:sp>
      <p:sp>
        <p:nvSpPr>
          <p:cNvPr id="28" name="summary">
            <a:extLst xmlns:a="http://schemas.openxmlformats.org/drawingml/2006/main">
              <a:ext uri="{FF2B5EF4-FFF2-40B4-BE49-F238E27FC236}">
                <a16:creationId xmlns:a16="http://schemas.microsoft.com/office/drawing/2014/main" id="{815A5F1C-C818-4206-8D17-3EC0166F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Após validar a vigência oficial, o sistema deve mostrar o impacto e pedir confirmação. Aplica a mudança às competências afetadas, preserva o histórico e evita tarefas duplicadas.</a:t>
            </a:r>
          </a:p>
        </p:txBody>
      </p:sp>
    </p:spTree>
    <p:extLst>
      <p:ext uri="{BB962C8B-B14F-4D97-AF65-F5344CB8AC3E}">
        <p14:creationId xmlns:p14="http://schemas.microsoft.com/office/powerpoint/2010/main" val="9512264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6119BDD5-BF00-4930-8C0A-13F3164C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REGIMES E OBRIGAÇÕES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F57D94-6CCE-492A-845D-A4B7D9C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Obrigações que entram, permanecem ou saem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130E834-E67A-4D4D-A3BC-A3D54726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7BE111B-DB35-4CAC-9652-98EACACD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B921D84-46A7-4EA3-B85A-05561EFF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13  /  REG-02</a:t>
            </a:r>
          </a:p>
        </p:txBody>
      </p:sp>
      <p:sp>
        <p:nvSpPr>
          <p:cNvPr id="6" name="flow-label">
            <a:extLst xmlns:a="http://schemas.openxmlformats.org/drawingml/2006/main">
              <a:ext uri="{FF2B5EF4-FFF2-40B4-BE49-F238E27FC236}">
                <a16:creationId xmlns:a16="http://schemas.microsoft.com/office/drawing/2014/main" id="{209D03E0-74F2-420F-8E90-0038B26F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3525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REVISÃO DO IMPACTO POR COMPETÊNCIA</a:t>
            </a:r>
          </a:p>
        </p:txBody>
      </p:sp>
      <p:sp>
        <p:nvSpPr>
          <p:cNvPr id="7" name="Entram">
            <a:extLst xmlns:a="http://schemas.openxmlformats.org/drawingml/2006/main">
              <a:ext uri="{FF2B5EF4-FFF2-40B4-BE49-F238E27FC236}">
                <a16:creationId xmlns:a16="http://schemas.microsoft.com/office/drawing/2014/main" id="{331FCB4D-5C49-41A4-B084-A972DB0D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8" name="Entram-title">
            <a:extLst xmlns:a="http://schemas.openxmlformats.org/drawingml/2006/main">
              <a:ext uri="{FF2B5EF4-FFF2-40B4-BE49-F238E27FC236}">
                <a16:creationId xmlns:a16="http://schemas.microsoft.com/office/drawing/2014/main" id="{07BE0961-1BE6-4CB5-9DEE-3D5B8F26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95575"/>
            <a:ext cx="3676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Entram</a:t>
            </a:r>
          </a:p>
        </p:txBody>
      </p:sp>
      <p:sp>
        <p:nvSpPr>
          <p:cNvPr id="9" name="Entram-detail">
            <a:extLst xmlns:a="http://schemas.openxmlformats.org/drawingml/2006/main">
              <a:ext uri="{FF2B5EF4-FFF2-40B4-BE49-F238E27FC236}">
                <a16:creationId xmlns:a16="http://schemas.microsoft.com/office/drawing/2014/main" id="{6EAAB040-774B-444A-9C7E-390202E3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3676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Gerar as novas obrigações aplicáveis, com responsáveis e prazos.</a:t>
            </a:r>
          </a:p>
        </p:txBody>
      </p:sp>
      <p:sp>
        <p:nvSpPr>
          <p:cNvPr id="10" name="Permanecem">
            <a:extLst xmlns:a="http://schemas.openxmlformats.org/drawingml/2006/main">
              <a:ext uri="{FF2B5EF4-FFF2-40B4-BE49-F238E27FC236}">
                <a16:creationId xmlns:a16="http://schemas.microsoft.com/office/drawing/2014/main" id="{B993C064-4692-4C43-8A9E-62603621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7650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11" name="Permanecem-title">
            <a:extLst xmlns:a="http://schemas.openxmlformats.org/drawingml/2006/main">
              <a:ext uri="{FF2B5EF4-FFF2-40B4-BE49-F238E27FC236}">
                <a16:creationId xmlns:a16="http://schemas.microsoft.com/office/drawing/2014/main" id="{890BFECE-237A-4D37-807D-170C1DBE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95575"/>
            <a:ext cx="3676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Permanecem</a:t>
            </a:r>
          </a:p>
        </p:txBody>
      </p:sp>
      <p:sp>
        <p:nvSpPr>
          <p:cNvPr id="12" name="Permanecem-detail">
            <a:extLst xmlns:a="http://schemas.openxmlformats.org/drawingml/2006/main">
              <a:ext uri="{FF2B5EF4-FFF2-40B4-BE49-F238E27FC236}">
                <a16:creationId xmlns:a16="http://schemas.microsoft.com/office/drawing/2014/main" id="{4A228B62-BA6D-45F8-8EE1-EA2AD173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314700"/>
            <a:ext cx="3676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Manter as obrigações comuns e o andamento já registrado.</a:t>
            </a:r>
          </a:p>
        </p:txBody>
      </p:sp>
      <p:sp>
        <p:nvSpPr>
          <p:cNvPr id="13" name="Deixam de se aplicar">
            <a:extLst xmlns:a="http://schemas.openxmlformats.org/drawingml/2006/main">
              <a:ext uri="{FF2B5EF4-FFF2-40B4-BE49-F238E27FC236}">
                <a16:creationId xmlns:a16="http://schemas.microsoft.com/office/drawing/2014/main" id="{8393A415-FD09-4458-9689-43FBD7D0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14" name="Deixam de se aplicar-title">
            <a:extLst xmlns:a="http://schemas.openxmlformats.org/drawingml/2006/main">
              <a:ext uri="{FF2B5EF4-FFF2-40B4-BE49-F238E27FC236}">
                <a16:creationId xmlns:a16="http://schemas.microsoft.com/office/drawing/2014/main" id="{EA132C2A-0ED1-4462-9B9F-1AC25D6B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95575"/>
            <a:ext cx="3676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Deixam de se aplicar</a:t>
            </a:r>
          </a:p>
        </p:txBody>
      </p:sp>
      <p:sp>
        <p:nvSpPr>
          <p:cNvPr id="15" name="Deixam de se aplicar-detail">
            <a:extLst xmlns:a="http://schemas.openxmlformats.org/drawingml/2006/main">
              <a:ext uri="{FF2B5EF4-FFF2-40B4-BE49-F238E27FC236}">
                <a16:creationId xmlns:a16="http://schemas.microsoft.com/office/drawing/2014/main" id="{9487ED25-A868-448A-B4D9-DA7E8B0F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14700"/>
            <a:ext cx="36766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Encerrar o vínculo pela vigência. Revisar as tarefas existentes.</a:t>
            </a:r>
          </a:p>
        </p:txBody>
      </p:sp>
      <p:sp>
        <p:nvSpPr>
          <p:cNvPr id="16" name="review-note">
            <a:extLst xmlns:a="http://schemas.openxmlformats.org/drawingml/2006/main">
              <a:ext uri="{FF2B5EF4-FFF2-40B4-BE49-F238E27FC236}">
                <a16:creationId xmlns:a16="http://schemas.microsoft.com/office/drawing/2014/main" id="{0480C92F-B20B-42DE-9B3E-56736CBA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O usuário confirma o plano antes de o sistema atualizar as tarefas.</a:t>
            </a:r>
          </a:p>
        </p:txBody>
      </p:sp>
      <p:sp>
        <p:nvSpPr>
          <p:cNvPr id="17" name="summary">
            <a:extLst xmlns:a="http://schemas.openxmlformats.org/drawingml/2006/main">
              <a:ext uri="{FF2B5EF4-FFF2-40B4-BE49-F238E27FC236}">
                <a16:creationId xmlns:a16="http://schemas.microsoft.com/office/drawing/2014/main" id="{B120ED30-2ACF-4E81-BEC3-907438E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No Lucro Presumido, o plano deve considerar IRPJ e CSLL trimestrais e EFD-Contribuições conforme as regras aplicáveis. Tarefas iniciadas ou entregues exigem revisão antes de qualquer ajuste.</a:t>
            </a:r>
          </a:p>
        </p:txBody>
      </p:sp>
    </p:spTree>
    <p:extLst>
      <p:ext uri="{BB962C8B-B14F-4D97-AF65-F5344CB8AC3E}">
        <p14:creationId xmlns:p14="http://schemas.microsoft.com/office/powerpoint/2010/main" val="1286073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BE808A6-CD33-4E3E-90B2-378C8A33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MODELOS E FLUXOS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A55B69-A3A3-4F8E-B234-C1BE26B1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Modelos de tarefa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E2F0D94-EE7F-4BBD-A1B0-7ED205F2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B7E2BEF-FB59-4F0F-855B-F87D24FC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AD240D5-9792-4984-959F-FA8E9E20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14  /  M01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FA2AAD42-57F6-49A8-9503-7902A6C0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A1476-AD29-481F-8359-B1939EEE67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234a8f04e4fca"/>
          <a:stretch xmlns:a="http://schemas.openxmlformats.org/drawingml/2006/main"/>
        </p:blipFill>
        <p:spPr>
          <a:xfrm xmlns:a="http://schemas.openxmlformats.org/drawingml/2006/main">
            <a:off x="2221586" y="1228725"/>
            <a:ext cx="10796828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0FD80FDA-3B86-4368-B34D-536ACACE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gestor mantém os modelos de obrigações, com regime, prazos, etapas e necessidade de conferência. Cada modelo orienta a criação das tarefas recorrentes.</a:t>
            </a:r>
          </a:p>
        </p:txBody>
      </p:sp>
    </p:spTree>
    <p:extLst>
      <p:ext uri="{BB962C8B-B14F-4D97-AF65-F5344CB8AC3E}">
        <p14:creationId xmlns:p14="http://schemas.microsoft.com/office/powerpoint/2010/main" val="6070355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29A59D86-98E6-4FED-91DC-CF1F4C2C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MODELOS E FLUXOS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2C22B6-8DE2-4A7C-B89C-5A6F0E5E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Criação e edição dos fluxos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609A331-3D18-42A2-9031-CC4B3DCD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BF7218B-C4E4-4052-8512-430BD97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6061114-1A0A-405E-AFFA-A287D121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15  /  M04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F9D23352-A6F6-46F3-8668-6C53D24B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01BF5-499D-480A-AE31-4537C24391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eb44129e54f08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6C50ACB1-A541-4960-8E4B-194CC669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gestor cria, copia, reordena e salva as etapas do trabalho. Define a evidência e a conferência exigidas, preservando nas tarefas já geradas a versão do fluxo e o andamento.</a:t>
            </a:r>
          </a:p>
        </p:txBody>
      </p:sp>
    </p:spTree>
    <p:extLst>
      <p:ext uri="{BB962C8B-B14F-4D97-AF65-F5344CB8AC3E}">
        <p14:creationId xmlns:p14="http://schemas.microsoft.com/office/powerpoint/2010/main" val="20988938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C35DAA3B-B984-455A-BCA4-3B75BB8D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MODELOS E FLUXOS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D8D072-AC95-4E6F-BC01-456A8875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Geração por competência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C244E70-4F15-4852-89CC-0532D08F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1F5686D-C917-4A89-9A12-C69B13A2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AC146B1-278E-4095-A64D-C6AAF3D0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16  /  M05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1530BB2-6C4A-45C3-BA79-86050943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1433A-6A52-43AF-9D58-5D7478E7E3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4a515606648fe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26F8155C-5C63-4961-8B12-0B3920D1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gestor escolhe a competência e gera as rotinas das empresas elegíveis. Cada tarefa recebe responsável, prazos e fluxo, e uma nova geração preserva as tarefas que já existem.</a:t>
            </a:r>
          </a:p>
        </p:txBody>
      </p:sp>
    </p:spTree>
    <p:extLst>
      <p:ext uri="{BB962C8B-B14F-4D97-AF65-F5344CB8AC3E}">
        <p14:creationId xmlns:p14="http://schemas.microsoft.com/office/powerpoint/2010/main" val="6863723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73B3067D-0A0F-4799-9716-C1A7662E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TAREFAS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6D7619-7676-4BB1-BA66-FBBA01CA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Tarefas da equipe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85E191C-E01B-4D8D-8291-8993EBFE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3F7729A-2DCD-49C0-A453-545A5D25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B8819B2-E3E4-4783-B090-95EBA50D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17  /  T01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98AF001-7418-491D-A263-D1CF20EE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4B8F1-B9C8-4E44-A574-35F0C6354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bf1ae363e4b41"/>
          <a:stretch xmlns:a="http://schemas.openxmlformats.org/drawingml/2006/main"/>
        </p:blipFill>
        <p:spPr>
          <a:xfrm xmlns:a="http://schemas.openxmlformats.org/drawingml/2006/main">
            <a:off x="2221586" y="1228725"/>
            <a:ext cx="10796828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9BD3A346-F3CE-4363-8B10-E28ED80D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Quem tem acesso à equipe acompanha obrigações, responsáveis e prazos. Status, busca e filtros ajudam a localizar o trabalho, e as cores destacam a situação de cada prazo.</a:t>
            </a:r>
          </a:p>
        </p:txBody>
      </p:sp>
    </p:spTree>
    <p:extLst>
      <p:ext uri="{BB962C8B-B14F-4D97-AF65-F5344CB8AC3E}">
        <p14:creationId xmlns:p14="http://schemas.microsoft.com/office/powerpoint/2010/main" val="14738072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41DA0A4E-BDE8-48BE-AF0B-32EEB324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TAREFAS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B7E14B-A218-4EAC-BB4F-F05BF479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A rotina do operador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4B6DC9F-2DD7-4EC8-B147-332BD52B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FF51839-BC03-4F43-970C-32CED37C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160F094-A1A7-49C7-B3E6-624719C3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18  /  O01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D09D728-AD56-4A70-98DD-0F0D20CA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F0315-19B9-4505-9F56-6C923CCBC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9db945830457e"/>
          <a:stretch xmlns:a="http://schemas.openxmlformats.org/drawingml/2006/main"/>
        </p:blipFill>
        <p:spPr>
          <a:xfrm xmlns:a="http://schemas.openxmlformats.org/drawingml/2006/main">
            <a:off x="2221586" y="1228725"/>
            <a:ext cx="10796828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2FBABBAC-E315-48D1-85E5-496F77F7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operador acompanha suas tarefas e atualiza a execução. Recebe outras abas, relatórios ou ações somente quando o administrador conceder esses acessos.</a:t>
            </a:r>
          </a:p>
        </p:txBody>
      </p:sp>
    </p:spTree>
    <p:extLst>
      <p:ext uri="{BB962C8B-B14F-4D97-AF65-F5344CB8AC3E}">
        <p14:creationId xmlns:p14="http://schemas.microsoft.com/office/powerpoint/2010/main" val="2644172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2A4422A6-EB61-447B-80E8-7AD65F19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TAREFAS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B2E93-2B7E-44A3-A625-BB835314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Execução e checklist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EB3FB84-48B6-4393-B859-0440DB89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CF8472-C93A-467B-98AA-940A085A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91AAB0B-B849-4028-BD86-FCFABE02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19  /  O03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F560222-C1C8-4148-88B6-292AA528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ADE89-55B2-4035-BA3D-96F90E2C3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9c436f7794e9f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9E280B40-486D-4D7A-866E-9E3D72CB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Ao abrir uma tarefa, o responsável inicia o trabalho e marca as etapas realizadas. Para concluir ou enviar à conferência, precisa cumprir as etapas e anexar a evidência exigida.</a:t>
            </a:r>
          </a:p>
        </p:txBody>
      </p:sp>
    </p:spTree>
    <p:extLst>
      <p:ext uri="{BB962C8B-B14F-4D97-AF65-F5344CB8AC3E}">
        <p14:creationId xmlns:p14="http://schemas.microsoft.com/office/powerpoint/2010/main" val="18478173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5662A891-438C-4C59-89F8-C1EBC27D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TAREFAS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EFC3D5-674C-4E49-B93E-A37595EB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Evidências da entrega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3DF05DC-896B-4F3A-B52E-48212313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FBE54B2-0D13-49EC-A49C-77CEBAFD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EED4E40-AC8C-45AF-BEE5-DB7165BD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20  /  T03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7F8B4332-E934-44EF-B1F3-015C88A6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B8592-5DD1-4ECC-8289-E4D9AE8DC5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6b69b67864150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0DA9D6AD-E178-4DE5-92B4-8485B464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Os documentos ficam vinculados à tarefa, à empresa e à competência. Novos envios preservam as versões anteriores, e o download depende da autorização da pessoa.</a:t>
            </a:r>
          </a:p>
        </p:txBody>
      </p:sp>
    </p:spTree>
    <p:extLst>
      <p:ext uri="{BB962C8B-B14F-4D97-AF65-F5344CB8AC3E}">
        <p14:creationId xmlns:p14="http://schemas.microsoft.com/office/powerpoint/2010/main" val="118801569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5CBE240E-3A4E-4194-8001-B4B4613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TAREFAS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85DD46-20BB-4168-B8DB-7E44B9C3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Conferência e conclusão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FC7B5F1-D650-4D85-9FDC-45A0AA08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FD0A381-7A3B-4A87-A991-A5B99806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C0EAD0-236C-4900-AB4B-E72BB382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21  /  T02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9DB99B33-3312-449D-90C9-AC0D5B61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C2C54-4783-4A7D-BAFD-B7D9D3C0CA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058fe8b834fc1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45609067-47BC-49E7-B521-FEE6880B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Quando o modelo exige conferência, outra pessoa autorizada aprova a entrega ou devolve com o motivo do ajuste. O responsável corrige e encaminha novamente para análise.</a:t>
            </a:r>
          </a:p>
        </p:txBody>
      </p:sp>
    </p:spTree>
    <p:extLst>
      <p:ext uri="{BB962C8B-B14F-4D97-AF65-F5344CB8AC3E}">
        <p14:creationId xmlns:p14="http://schemas.microsoft.com/office/powerpoint/2010/main" val="11204761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3281D25-A0D5-40C8-92BD-49856C5D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TAREFAS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0B0286-9188-4A4F-B11D-4E22163E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Tarefas avulsas e exceções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D36CCA6-78E2-4F47-B2FF-B288EF84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B9C0ACD-E156-4FC6-B4F9-38F94476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75CC3D3-5C81-4A49-9A89-8326133C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22  /  T05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77FEAAF-BA4D-431B-B861-50061150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8658F-93C6-447A-A562-F70CCD6430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661fe6df54742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5C690FA5-4145-4C18-B920-605A6BB1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Uma demanda pontual recebe empresa, descrição, responsável e prazos próprios. Redistribuição, espera pelo cliente, dispensa e reabertura devem seguir as permissões e registrar seus motivos.</a:t>
            </a:r>
          </a:p>
        </p:txBody>
      </p:sp>
    </p:spTree>
    <p:extLst>
      <p:ext uri="{BB962C8B-B14F-4D97-AF65-F5344CB8AC3E}">
        <p14:creationId xmlns:p14="http://schemas.microsoft.com/office/powerpoint/2010/main" val="5187190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6A5C794-B47C-41A8-996F-2A179010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DOCUMENTOS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614D45-A414-4060-A233-68DD2E9F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Consulta de documentos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C508442-CCB1-4321-996C-4C9EA74B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0F09551-10CB-4F31-A6D8-3A409D7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190AD7-75EC-45AF-B497-8C880325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23  /  D01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039E5CAA-FBBE-4B31-80A1-25F5440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C26F3-23DB-4047-95D2-F0ED1AA303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3b44d16424630"/>
          <a:stretch xmlns:a="http://schemas.openxmlformats.org/drawingml/2006/main"/>
        </p:blipFill>
        <p:spPr>
          <a:xfrm xmlns:a="http://schemas.openxmlformats.org/drawingml/2006/main">
            <a:off x="2221586" y="1228725"/>
            <a:ext cx="10796828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FFDEF5F6-2D17-49B5-8997-1B34FAA4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 pessoa escolhe a competência e pesquisa os arquivos do seu escopo. Pode consultar versões, abrir a tarefa de origem e baixar as evidências quando tiver permissão.</a:t>
            </a:r>
          </a:p>
        </p:txBody>
      </p:sp>
    </p:spTree>
    <p:extLst>
      <p:ext uri="{BB962C8B-B14F-4D97-AF65-F5344CB8AC3E}">
        <p14:creationId xmlns:p14="http://schemas.microsoft.com/office/powerpoint/2010/main" val="8778083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283B5EBC-1790-4DC0-813C-5E182989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RELATÓRIOS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012905-9582-419D-B521-883E284B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Relatórios operacionais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73C19DE1-8666-4DA8-AFAC-B0D2CE7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C29C704-294F-40C6-AFD3-AB1B345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7C49808-36E2-4970-AB2E-E2E7B8F3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24  /  R01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4F1AD423-1FFA-4B41-B6F6-10755F7D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BAEB9-2E56-412E-88FC-BD9A73D805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5e38b5c6043ba"/>
          <a:stretch xmlns:a="http://schemas.openxmlformats.org/drawingml/2006/main"/>
        </p:blipFill>
        <p:spPr>
          <a:xfrm xmlns:a="http://schemas.openxmlformats.org/drawingml/2006/main">
            <a:off x="2221586" y="1228725"/>
            <a:ext cx="10796828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B7265C03-8F04-4F61-93DA-182110AB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 pessoa seleciona o relatório e a competência para consultar ou exportar os resultados. Operadores podem emitir relatórios operacionais e de conciliação quando autorizados.</a:t>
            </a:r>
          </a:p>
        </p:txBody>
      </p:sp>
    </p:spTree>
    <p:extLst>
      <p:ext uri="{BB962C8B-B14F-4D97-AF65-F5344CB8AC3E}">
        <p14:creationId xmlns:p14="http://schemas.microsoft.com/office/powerpoint/2010/main" val="77960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61945546-A84E-43F1-90BB-B0DFE83F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RELATÓRIOS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8EF4FC-348F-42A8-B185-0EFD49D1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Acompanhamento de desempenho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B9C0936-ADB4-4E0E-9723-DA926BC7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F0B97BE-2140-4A65-915F-5B1DBD74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49E420-DDE4-4C29-8184-B141CB30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25  /  R02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809A6A95-5992-437A-907B-B2D30941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1B880-D0A6-4F27-A1E5-C1209EA525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27d1e96114af6"/>
          <a:stretch xmlns:a="http://schemas.openxmlformats.org/drawingml/2006/main"/>
        </p:blipFill>
        <p:spPr>
          <a:xfrm xmlns:a="http://schemas.openxmlformats.org/drawingml/2006/main">
            <a:off x="2221586" y="1228725"/>
            <a:ext cx="10796828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D8914BF6-35C6-481E-B9F4-CFE8ACD6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Relatórios de desempenho individual devem exigir autorização específica. Administradores e supervisores acompanham esses dados conforme as concessões definidas para a gestão.</a:t>
            </a:r>
          </a:p>
        </p:txBody>
      </p:sp>
    </p:spTree>
    <p:extLst>
      <p:ext uri="{BB962C8B-B14F-4D97-AF65-F5344CB8AC3E}">
        <p14:creationId xmlns:p14="http://schemas.microsoft.com/office/powerpoint/2010/main" val="7985754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5732B45F-8ECA-4958-A16D-3C0B174D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PAINEL DE TV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931285-A644-46BE-8861-E5AFE36C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Visão consolidada da equipe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92B9A07-6AC3-4194-9904-E60F4A6D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0D48587-6757-4BCC-A446-31D12A12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6745647-6490-4227-8A1A-F24A52CB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26  /  P03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67AC7E18-08DB-415D-9043-9868E057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FFF9B-785F-4F56-92EA-FED479CD7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d8ac845014531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B2C8C0AC-1B51-4B3D-A446-F3E54083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O painel reúne os departamentos autorizados, com prazos, entregas e tarefas vinculadas ao nome do colaborador. As listas alternam automaticamente para acompanhar toda a equipe.</a:t>
            </a:r>
          </a:p>
        </p:txBody>
      </p:sp>
    </p:spTree>
    <p:extLst>
      <p:ext uri="{BB962C8B-B14F-4D97-AF65-F5344CB8AC3E}">
        <p14:creationId xmlns:p14="http://schemas.microsoft.com/office/powerpoint/2010/main" val="6980825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363D9CA9-764D-45A8-BB33-3A9AD9C2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PAINEL DE TV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C2A4CE-E5F8-4C74-84FF-EB2706D1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Cadastro e conexão da TV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13FF1CC-FFAD-4BDE-9503-8EAED631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5A7C50F-C63C-4A93-A781-E74123AA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6362A39-79C0-4099-81A0-B15A1B89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27  /  P02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7E100522-4CAE-43EC-A1EB-C0DA9789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E90B8-A526-4978-A579-77787AD896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b9f17d23f4d79"/>
          <a:stretch xmlns:a="http://schemas.openxmlformats.org/drawingml/2006/main"/>
        </p:blipFill>
        <p:spPr>
          <a:xfrm xmlns:a="http://schemas.openxmlformats.org/drawingml/2006/main">
            <a:off x="2218267" y="1228725"/>
            <a:ext cx="10803467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DB6502AC-6E7D-4506-B98D-B94E731E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 pessoa autorizada cadastra o dispositivo e define departamentos, competência e blocos. Depois vincula a TV por código de uso único, com acesso de consulta que pode ser revogado.</a:t>
            </a:r>
          </a:p>
        </p:txBody>
      </p:sp>
    </p:spTree>
    <p:extLst>
      <p:ext uri="{BB962C8B-B14F-4D97-AF65-F5344CB8AC3E}">
        <p14:creationId xmlns:p14="http://schemas.microsoft.com/office/powerpoint/2010/main" val="11369102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CDDA196F-3EEA-4BC3-A5AB-784385CC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"/>
            <a:ext cx="1238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E7F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F87"/>
                </a:solidFill>
                <a:latin typeface="Arial"/>
                <a:ea typeface="Arial"/>
                <a:cs typeface="Arial"/>
              </a:rPr>
              <a:t>CONFIGURAÇÕES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4D52D7-83D1-40ED-9F40-DF9B4FA5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"/>
            <a:ext cx="1390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5202B"/>
                </a:solidFill>
                <a:latin typeface="Arial"/>
                <a:ea typeface="Arial"/>
                <a:cs typeface="Arial"/>
              </a:rPr>
              <a:t>Configurações e rastreabilidade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BE3D9D3-A99D-4D6E-A3A2-417C1F79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76325"/>
            <a:ext cx="1390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8"/>
          </a:solidFill>
          <a:ln xmlns:a="http://schemas.openxmlformats.org/drawingml/2006/main" w="9525">
            <a:solidFill>
              <a:srgbClr val="D9E4E8"/>
            </a:solidFill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528D0C2-8D7D-48E2-9F50-9536A259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34375"/>
            <a:ext cx="1171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Ápice Contábil  /  Fluxos do portal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74650D6-E776-4722-A47F-53CFAE42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3343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4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16B"/>
                </a:solidFill>
                <a:latin typeface="Arial"/>
                <a:ea typeface="Arial"/>
                <a:cs typeface="Arial"/>
              </a:rPr>
              <a:t>28  /  C02</a:t>
            </a:r>
          </a:p>
        </p:txBody>
      </p:sp>
      <p:sp>
        <p:nvSpPr>
          <p:cNvPr id="6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922326DC-1EB3-4900-A416-98245704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190625"/>
            <a:ext cx="11468100" cy="6153150"/>
          </a:xfrm>
          <a:prstGeom xmlns:a="http://schemas.openxmlformats.org/drawingml/2006/main" prst="roundRect">
            <a:avLst>
              <a:gd name="adj" fmla="val 1238"/>
            </a:avLst>
          </a:prstGeom>
          <a:solidFill xmlns:a="http://schemas.openxmlformats.org/drawingml/2006/main">
            <a:srgbClr val="F2F5F6"/>
          </a:solidFill>
          <a:ln xmlns:a="http://schemas.openxmlformats.org/drawingml/2006/main" w="9525">
            <a:solidFill>
              <a:srgbClr val="D9E4E8"/>
            </a:solidFill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61CF7-3105-46F4-B523-186CF6BC6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34a25c9d24c9e"/>
          <a:stretch xmlns:a="http://schemas.openxmlformats.org/drawingml/2006/main"/>
        </p:blipFill>
        <p:spPr>
          <a:xfrm xmlns:a="http://schemas.openxmlformats.org/drawingml/2006/main">
            <a:off x="2221586" y="1228725"/>
            <a:ext cx="10796828" cy="6076950"/>
          </a:xfrm>
          <a:prstGeom xmlns:a="http://schemas.openxmlformats.org/drawingml/2006/main" prst="rect">
            <a:avLst/>
          </a:prstGeom>
        </p:spPr>
      </p:pic>
      <p:sp>
        <p:nvSpPr>
          <p:cNvPr id="8" name="summary">
            <a:extLst xmlns:a="http://schemas.openxmlformats.org/drawingml/2006/main">
              <a:ext uri="{FF2B5EF4-FFF2-40B4-BE49-F238E27FC236}">
                <a16:creationId xmlns:a16="http://schemas.microsoft.com/office/drawing/2014/main" id="{FE46074B-1767-49B5-9073-8BBD7C70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24750"/>
            <a:ext cx="1352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9525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20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02B"/>
                </a:solidFill>
                <a:latin typeface="Arial"/>
                <a:ea typeface="Arial"/>
                <a:cs typeface="Arial"/>
              </a:rPr>
              <a:t>A gestão consulta a equipe, os acessos e os registros das ações realizadas. O histórico permite identificar quem alterou, executou, conferiu ou reabriu uma tarefa.</a:t>
            </a:r>
          </a:p>
        </p:txBody>
      </p:sp>
    </p:spTree>
    <p:extLst>
      <p:ext uri="{BB962C8B-B14F-4D97-AF65-F5344CB8AC3E}">
        <p14:creationId xmlns:p14="http://schemas.microsoft.com/office/powerpoint/2010/main" val="671868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2026-10-15T13:59:38.9470000Z</dcterms:created>
  <dcterms:modified xsi:type="dcterms:W3CDTF">2026-10-15T13:59:38.9480000Z</dcterms:modified>
</coreProperties>
</file>